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59431E-BDE9-410F-AB63-190CF98A328C}">
          <p14:sldIdLst>
            <p14:sldId id="256"/>
            <p14:sldId id="257"/>
            <p14:sldId id="258"/>
            <p14:sldId id="259"/>
            <p14:sldId id="260"/>
            <p14:sldId id="261"/>
            <p14:sldId id="262"/>
            <p14:sldId id="263"/>
            <p14:sldId id="265"/>
            <p14:sldId id="266"/>
            <p14:sldId id="264"/>
            <p14:sldId id="267"/>
            <p14:sldId id="26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438C-7751-350A-25E7-E8A078C35C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46A79F-82D4-7C4F-9782-ED4A20EDA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A48921-4674-B246-E8A9-657E066B67CE}"/>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5" name="Footer Placeholder 4">
            <a:extLst>
              <a:ext uri="{FF2B5EF4-FFF2-40B4-BE49-F238E27FC236}">
                <a16:creationId xmlns:a16="http://schemas.microsoft.com/office/drawing/2014/main" id="{C81DA9A8-9C1F-55DD-5163-985337A101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A55160-D066-9DB0-ABB3-A465AC416C4A}"/>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1138039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0CDD-6C12-488D-4C76-CA3FEFE34E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5F3848-184A-B066-1326-B853F13274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FE6FD-2976-7983-BA3C-68338793275E}"/>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5" name="Footer Placeholder 4">
            <a:extLst>
              <a:ext uri="{FF2B5EF4-FFF2-40B4-BE49-F238E27FC236}">
                <a16:creationId xmlns:a16="http://schemas.microsoft.com/office/drawing/2014/main" id="{39F42052-2F1A-FCD9-80C5-1C08F9D8D0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CAA676-2379-1A87-7E05-6A8BC3934F03}"/>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3131455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BFA-4725-724D-7A51-BCAA29C131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7E570B-72B2-977C-B0D8-98FCFA3826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3EDC5F-067D-18A2-267E-E2D5AF620DE0}"/>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5" name="Footer Placeholder 4">
            <a:extLst>
              <a:ext uri="{FF2B5EF4-FFF2-40B4-BE49-F238E27FC236}">
                <a16:creationId xmlns:a16="http://schemas.microsoft.com/office/drawing/2014/main" id="{4ED7FA5F-2C95-E75B-FE91-3E065D75BB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740247-A375-B6A6-B530-69EDF905C956}"/>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2696688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21560-8B70-AE8A-98B5-399B403F6D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381B44-963B-64A6-1429-BFBF8B0623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2FA799-4CB8-692C-377F-612749C3BB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E84A57-79BD-D867-5178-4723F91E5B6B}"/>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6" name="Footer Placeholder 5">
            <a:extLst>
              <a:ext uri="{FF2B5EF4-FFF2-40B4-BE49-F238E27FC236}">
                <a16:creationId xmlns:a16="http://schemas.microsoft.com/office/drawing/2014/main" id="{08172D28-9FDC-5CCC-1DE7-EA4B60753C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4C446E-4995-9EF3-7699-DB881D867B25}"/>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225072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F4E5-864C-5BFC-7981-815BC9C3AC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4D97CD-4688-EA39-5686-71995203E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0AE5DD-4CFC-F78F-D092-555D2AE066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90CD74-830F-81D5-AF7C-C14B176CE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015E7E-FCC5-0E85-5F6E-B059A9172D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D0BDE3-77C8-F186-B560-C7A906589EEF}"/>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8" name="Footer Placeholder 7">
            <a:extLst>
              <a:ext uri="{FF2B5EF4-FFF2-40B4-BE49-F238E27FC236}">
                <a16:creationId xmlns:a16="http://schemas.microsoft.com/office/drawing/2014/main" id="{01A90656-DD0C-B791-CAC4-2D8135FB8BF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430C6A-0775-5BA9-509F-3BCB59225318}"/>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112057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F3CD-F62E-CBA9-8803-8197BAF137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1DC254-72E6-55E4-8401-CE35E3DDEE0C}"/>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4" name="Footer Placeholder 3">
            <a:extLst>
              <a:ext uri="{FF2B5EF4-FFF2-40B4-BE49-F238E27FC236}">
                <a16:creationId xmlns:a16="http://schemas.microsoft.com/office/drawing/2014/main" id="{D323E54D-D3CB-9D65-B149-BF58B298E4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A8CCFB-9232-2C03-1733-27959A0A9B5D}"/>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415080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31DEA1-5636-2833-E72D-C77438C00F49}"/>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3" name="Footer Placeholder 2">
            <a:extLst>
              <a:ext uri="{FF2B5EF4-FFF2-40B4-BE49-F238E27FC236}">
                <a16:creationId xmlns:a16="http://schemas.microsoft.com/office/drawing/2014/main" id="{C88FC314-009C-8D7B-BBE2-38E17EA9AC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6BC167-1D8B-1954-FDC8-A2AA06D921BC}"/>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84534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4CB2A-BA9D-1675-4630-EB66C6564A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9D8337-82CD-6BD3-E27F-519048B888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80F215-0326-52AD-4B81-31B12ACB7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F628F3-E1F5-E213-C50A-6F252A07C7D3}"/>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6" name="Footer Placeholder 5">
            <a:extLst>
              <a:ext uri="{FF2B5EF4-FFF2-40B4-BE49-F238E27FC236}">
                <a16:creationId xmlns:a16="http://schemas.microsoft.com/office/drawing/2014/main" id="{3A281437-86DE-3BC1-41DD-F9FD992BE8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C1CABE-0C44-5339-E931-23D5EAD9B126}"/>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52980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0AE77-C935-54B1-C511-EE6C0D77A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968D3D-3F12-E2B5-C278-38DEC049F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756EFE-4D24-6491-264D-144E0EB25A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4C8A6F-489A-DFE8-AA05-237B2C958BC6}"/>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6" name="Footer Placeholder 5">
            <a:extLst>
              <a:ext uri="{FF2B5EF4-FFF2-40B4-BE49-F238E27FC236}">
                <a16:creationId xmlns:a16="http://schemas.microsoft.com/office/drawing/2014/main" id="{3A317254-E471-1C08-2E13-C4ED152CF8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8C8544-C567-6772-5B60-844E2263D125}"/>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368809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AC53-966A-FD25-B058-EFFFB57F35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465800-B383-92EE-3DB4-5D5C37EA59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B2D0FF-2782-E3FB-796F-DD8CC77131C7}"/>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5" name="Footer Placeholder 4">
            <a:extLst>
              <a:ext uri="{FF2B5EF4-FFF2-40B4-BE49-F238E27FC236}">
                <a16:creationId xmlns:a16="http://schemas.microsoft.com/office/drawing/2014/main" id="{DA862174-F6EF-B477-8CC6-00F78CFCF4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C6677D-0029-0D13-B249-1A73A3BECB9B}"/>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1757525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ADC42F-5CB1-0CCE-016A-A949C3F92B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9A47FF-6E3A-FE5A-AA84-7917D93B22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BCC349-4786-B498-5814-3F307F6FA2E2}"/>
              </a:ext>
            </a:extLst>
          </p:cNvPr>
          <p:cNvSpPr>
            <a:spLocks noGrp="1"/>
          </p:cNvSpPr>
          <p:nvPr>
            <p:ph type="dt" sz="half" idx="10"/>
          </p:nvPr>
        </p:nvSpPr>
        <p:spPr/>
        <p:txBody>
          <a:bodyPr/>
          <a:lstStyle/>
          <a:p>
            <a:fld id="{795355A4-DE1F-49DA-946E-7369A5F98F6F}" type="datetimeFigureOut">
              <a:rPr lang="en-IN" smtClean="0"/>
              <a:t>02-08-2026</a:t>
            </a:fld>
            <a:endParaRPr lang="en-IN"/>
          </a:p>
        </p:txBody>
      </p:sp>
      <p:sp>
        <p:nvSpPr>
          <p:cNvPr id="5" name="Footer Placeholder 4">
            <a:extLst>
              <a:ext uri="{FF2B5EF4-FFF2-40B4-BE49-F238E27FC236}">
                <a16:creationId xmlns:a16="http://schemas.microsoft.com/office/drawing/2014/main" id="{F24FD34C-0571-AF2B-5697-EC02DA15CF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9C90B5-71D2-0406-6C5F-3A6B6C56CE8C}"/>
              </a:ext>
            </a:extLst>
          </p:cNvPr>
          <p:cNvSpPr>
            <a:spLocks noGrp="1"/>
          </p:cNvSpPr>
          <p:nvPr>
            <p:ph type="sldNum" sz="quarter" idx="12"/>
          </p:nvPr>
        </p:nvSpPr>
        <p:spPr/>
        <p:txBody>
          <a:bodyPr/>
          <a:lstStyle/>
          <a:p>
            <a:fld id="{F5F97BAA-6863-45B7-A46D-1AD2D339FA00}" type="slidenum">
              <a:rPr lang="en-IN" smtClean="0"/>
              <a:t>‹#›</a:t>
            </a:fld>
            <a:endParaRPr lang="en-IN"/>
          </a:p>
        </p:txBody>
      </p:sp>
    </p:spTree>
    <p:extLst>
      <p:ext uri="{BB962C8B-B14F-4D97-AF65-F5344CB8AC3E}">
        <p14:creationId xmlns:p14="http://schemas.microsoft.com/office/powerpoint/2010/main" val="3318185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8E7A3-7736-D3EE-536A-395CDEB8E7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269358-8CB1-5505-17E2-9C545DBC61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D3A66-8860-BDD7-A131-1978B74B48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5355A4-DE1F-49DA-946E-7369A5F98F6F}" type="datetimeFigureOut">
              <a:rPr lang="en-IN" smtClean="0"/>
              <a:t>02-08-2026</a:t>
            </a:fld>
            <a:endParaRPr lang="en-IN"/>
          </a:p>
        </p:txBody>
      </p:sp>
      <p:sp>
        <p:nvSpPr>
          <p:cNvPr id="5" name="Footer Placeholder 4">
            <a:extLst>
              <a:ext uri="{FF2B5EF4-FFF2-40B4-BE49-F238E27FC236}">
                <a16:creationId xmlns:a16="http://schemas.microsoft.com/office/drawing/2014/main" id="{2DE83C05-B6E4-A9B9-3D23-1ADA3690C9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BD0147-CD68-BD14-778B-F6B0AD9A3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F97BAA-6863-45B7-A46D-1AD2D339FA00}" type="slidenum">
              <a:rPr lang="en-IN" smtClean="0"/>
              <a:t>‹#›</a:t>
            </a:fld>
            <a:endParaRPr lang="en-IN"/>
          </a:p>
        </p:txBody>
      </p:sp>
    </p:spTree>
    <p:extLst>
      <p:ext uri="{BB962C8B-B14F-4D97-AF65-F5344CB8AC3E}">
        <p14:creationId xmlns:p14="http://schemas.microsoft.com/office/powerpoint/2010/main" val="3663411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cloud-adoption-framework/manage/" TargetMode="External"/><Relationship Id="rId3" Type="http://schemas.openxmlformats.org/officeDocument/2006/relationships/hyperlink" Target="https://learn.microsoft.com/en-us/azure/cloud-adoption-framework/plan/" TargetMode="External"/><Relationship Id="rId7" Type="http://schemas.openxmlformats.org/officeDocument/2006/relationships/hyperlink" Target="https://learn.microsoft.com/en-us/azure/cloud-adoption-framework/secure/" TargetMode="External"/><Relationship Id="rId2" Type="http://schemas.openxmlformats.org/officeDocument/2006/relationships/hyperlink" Target="https://learn.microsoft.com/en-us/azure/cloud-adoption-framework/strategy/" TargetMode="External"/><Relationship Id="rId1" Type="http://schemas.openxmlformats.org/officeDocument/2006/relationships/slideLayout" Target="../slideLayouts/slideLayout9.xml"/><Relationship Id="rId6" Type="http://schemas.openxmlformats.org/officeDocument/2006/relationships/hyperlink" Target="https://learn.microsoft.com/en-us/azure/cloud-adoption-framework/govern/" TargetMode="External"/><Relationship Id="rId5" Type="http://schemas.openxmlformats.org/officeDocument/2006/relationships/hyperlink" Target="https://learn.microsoft.com/en-us/azure/cloud-adoption-framework/adopt/" TargetMode="External"/><Relationship Id="rId4" Type="http://schemas.openxmlformats.org/officeDocument/2006/relationships/hyperlink" Target="https://learn.microsoft.com/en-us/azure/cloud-adoption-framework/read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learn.microsoft.com/en-us/azure/cloud-adoption-framework/strategy/"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hyperlink" Target="https://learn.microsoft.com/en-us/azure/cloud-adoption-framework/ready/"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learn.microsoft.com/en-us/azure/cloud-adoption-framework/plan/select-cloud-migration-strategy#7-rebuild-build-cloud-native" TargetMode="External"/><Relationship Id="rId3" Type="http://schemas.openxmlformats.org/officeDocument/2006/relationships/hyperlink" Target="https://learn.microsoft.com/en-us/azure/cloud-adoption-framework/plan/select-cloud-migration-strategy#2-rehost-like-for-like-migration" TargetMode="External"/><Relationship Id="rId7" Type="http://schemas.openxmlformats.org/officeDocument/2006/relationships/hyperlink" Target="https://learn.microsoft.com/en-us/azure/cloud-adoption-framework/plan/select-cloud-migration-strategy#6-replace-use-saas-alternative" TargetMode="External"/><Relationship Id="rId2" Type="http://schemas.openxmlformats.org/officeDocument/2006/relationships/hyperlink" Target="https://learn.microsoft.com/en-us/azure/cloud-adoption-framework/plan/select-cloud-migration-strategy#1-retire-decommission" TargetMode="External"/><Relationship Id="rId1" Type="http://schemas.openxmlformats.org/officeDocument/2006/relationships/slideLayout" Target="../slideLayouts/slideLayout7.xml"/><Relationship Id="rId6" Type="http://schemas.openxmlformats.org/officeDocument/2006/relationships/hyperlink" Target="https://learn.microsoft.com/en-us/azure/cloud-adoption-framework/plan/select-cloud-migration-strategy#5-rearchitect-modernize-architecture-and-code" TargetMode="External"/><Relationship Id="rId5" Type="http://schemas.openxmlformats.org/officeDocument/2006/relationships/hyperlink" Target="https://learn.microsoft.com/en-us/azure/cloud-adoption-framework/plan/select-cloud-migration-strategy#4-refactor-modernize-code" TargetMode="External"/><Relationship Id="rId4" Type="http://schemas.openxmlformats.org/officeDocument/2006/relationships/hyperlink" Target="https://learn.microsoft.com/en-us/azure/cloud-adoption-framework/plan/select-cloud-migration-strategy#3-replatform-modernize-hosting-environment" TargetMode="External"/><Relationship Id="rId9" Type="http://schemas.openxmlformats.org/officeDocument/2006/relationships/hyperlink" Target="https://learn.microsoft.com/en-us/azure/cloud-adoption-framework/plan/select-cloud-migration-strategy#8-retain-keep-as-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2B4CD-4B24-3010-F498-75FF7BA7D8E5}"/>
              </a:ext>
            </a:extLst>
          </p:cNvPr>
          <p:cNvSpPr>
            <a:spLocks noGrp="1"/>
          </p:cNvSpPr>
          <p:nvPr>
            <p:ph type="ctrTitle"/>
          </p:nvPr>
        </p:nvSpPr>
        <p:spPr/>
        <p:txBody>
          <a:bodyPr>
            <a:normAutofit fontScale="90000"/>
          </a:bodyPr>
          <a:lstStyle/>
          <a:p>
            <a:r>
              <a:rPr lang="en-US" b="1" dirty="0"/>
              <a:t>What is the Microsoft Cloud Adoption Framework?</a:t>
            </a:r>
            <a:br>
              <a:rPr lang="en-US" b="1" dirty="0"/>
            </a:br>
            <a:endParaRPr lang="en-IN" dirty="0"/>
          </a:p>
        </p:txBody>
      </p:sp>
    </p:spTree>
    <p:extLst>
      <p:ext uri="{BB962C8B-B14F-4D97-AF65-F5344CB8AC3E}">
        <p14:creationId xmlns:p14="http://schemas.microsoft.com/office/powerpoint/2010/main" val="3898547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957F8A-C541-3DDB-5DFA-CFC5045FBB1E}"/>
              </a:ext>
            </a:extLst>
          </p:cNvPr>
          <p:cNvSpPr>
            <a:spLocks noGrp="1"/>
          </p:cNvSpPr>
          <p:nvPr>
            <p:ph type="title"/>
          </p:nvPr>
        </p:nvSpPr>
        <p:spPr>
          <a:solidFill>
            <a:schemeClr val="accent4">
              <a:lumMod val="60000"/>
              <a:lumOff val="40000"/>
            </a:schemeClr>
          </a:solidFill>
        </p:spPr>
        <p:txBody>
          <a:bodyPr>
            <a:normAutofit fontScale="90000"/>
          </a:bodyPr>
          <a:lstStyle/>
          <a:p>
            <a:r>
              <a:rPr lang="en-US" b="1" dirty="0"/>
              <a:t>What is the Microsoft Cloud Adoption Framework?</a:t>
            </a:r>
            <a:br>
              <a:rPr lang="en-US" b="1" dirty="0"/>
            </a:br>
            <a:endParaRPr lang="en-IN" dirty="0"/>
          </a:p>
        </p:txBody>
      </p:sp>
      <p:sp>
        <p:nvSpPr>
          <p:cNvPr id="6" name="Text Placeholder 5">
            <a:extLst>
              <a:ext uri="{FF2B5EF4-FFF2-40B4-BE49-F238E27FC236}">
                <a16:creationId xmlns:a16="http://schemas.microsoft.com/office/drawing/2014/main" id="{560407AB-52F0-EC91-685F-530B6DC7C55C}"/>
              </a:ext>
            </a:extLst>
          </p:cNvPr>
          <p:cNvSpPr>
            <a:spLocks noGrp="1"/>
          </p:cNvSpPr>
          <p:nvPr>
            <p:ph type="body" sz="half" idx="2"/>
          </p:nvPr>
        </p:nvSpPr>
        <p:spPr>
          <a:xfrm>
            <a:off x="839788" y="2488676"/>
            <a:ext cx="3932237" cy="2861837"/>
          </a:xfrm>
          <a:solidFill>
            <a:schemeClr val="accent3">
              <a:lumMod val="20000"/>
              <a:lumOff val="80000"/>
            </a:schemeClr>
          </a:solidFill>
        </p:spPr>
        <p:txBody>
          <a:bodyPr/>
          <a:lstStyle/>
          <a:p>
            <a:r>
              <a:rPr lang="en-US" dirty="0"/>
              <a:t>The Microsoft Cloud Adoption Framework (CAF) is a structured roadmap that helps organizations successfully adopt Azure and integrate it into their existing IT environments. It provides best practices and guidance to help organizations make the right decisions for their business throughout the cloud journey.</a:t>
            </a:r>
          </a:p>
          <a:p>
            <a:br>
              <a:rPr lang="en-US" dirty="0"/>
            </a:br>
            <a:endParaRPr lang="en-IN" dirty="0"/>
          </a:p>
        </p:txBody>
      </p:sp>
      <p:pic>
        <p:nvPicPr>
          <p:cNvPr id="1026" name="Picture 2" descr="Diagram overview of the Cloud Adoption Framework for Azure showing seven core methodologies: Strategy, Plan, Ready, Adopt, Govern, Secure, and Manage. Foundational methodologies flow sequentially. Operational methodologies run in parallel during operations.">
            <a:extLst>
              <a:ext uri="{FF2B5EF4-FFF2-40B4-BE49-F238E27FC236}">
                <a16:creationId xmlns:a16="http://schemas.microsoft.com/office/drawing/2014/main" id="{36897CED-734E-4D21-A6DB-98770F376E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83188" y="1650758"/>
            <a:ext cx="6172200" cy="3546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83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E0D7A1-C211-F97F-04B3-20AE753D3F8E}"/>
              </a:ext>
            </a:extLst>
          </p:cNvPr>
          <p:cNvSpPr>
            <a:spLocks noGrp="1"/>
          </p:cNvSpPr>
          <p:nvPr>
            <p:ph type="title"/>
          </p:nvPr>
        </p:nvSpPr>
        <p:spPr>
          <a:xfrm>
            <a:off x="556984" y="259237"/>
            <a:ext cx="3932237" cy="1600200"/>
          </a:xfrm>
          <a:solidFill>
            <a:schemeClr val="accent4">
              <a:lumMod val="60000"/>
              <a:lumOff val="40000"/>
            </a:schemeClr>
          </a:solidFill>
        </p:spPr>
        <p:txBody>
          <a:bodyPr>
            <a:normAutofit fontScale="90000"/>
          </a:bodyPr>
          <a:lstStyle/>
          <a:p>
            <a:r>
              <a:rPr lang="en-US" b="1" dirty="0"/>
              <a:t>How does the Cloud Adoption Framework work?</a:t>
            </a:r>
            <a:br>
              <a:rPr lang="en-US" b="1" dirty="0"/>
            </a:br>
            <a:endParaRPr lang="en-IN" dirty="0"/>
          </a:p>
        </p:txBody>
      </p:sp>
      <p:sp>
        <p:nvSpPr>
          <p:cNvPr id="7" name="Text Placeholder 6">
            <a:extLst>
              <a:ext uri="{FF2B5EF4-FFF2-40B4-BE49-F238E27FC236}">
                <a16:creationId xmlns:a16="http://schemas.microsoft.com/office/drawing/2014/main" id="{138B02AA-DC49-B76B-3594-1B2211608DFC}"/>
              </a:ext>
            </a:extLst>
          </p:cNvPr>
          <p:cNvSpPr>
            <a:spLocks noGrp="1"/>
          </p:cNvSpPr>
          <p:nvPr>
            <p:ph type="body" sz="half" idx="2"/>
          </p:nvPr>
        </p:nvSpPr>
        <p:spPr>
          <a:xfrm>
            <a:off x="556984" y="2091171"/>
            <a:ext cx="3932237" cy="3811588"/>
          </a:xfrm>
          <a:solidFill>
            <a:schemeClr val="accent3">
              <a:lumMod val="40000"/>
              <a:lumOff val="60000"/>
            </a:schemeClr>
          </a:solidFill>
        </p:spPr>
        <p:txBody>
          <a:bodyPr>
            <a:normAutofit lnSpcReduction="10000"/>
          </a:bodyPr>
          <a:lstStyle/>
          <a:p>
            <a:pPr marL="285750" indent="-285750">
              <a:buFont typeface="Wingdings" panose="05000000000000000000" pitchFamily="2" charset="2"/>
              <a:buChar char="Ø"/>
            </a:pPr>
            <a:r>
              <a:rPr lang="en-US" dirty="0"/>
              <a:t>The Cloud Adoption Framework organizes Azure guidance into seven core methodologies that together guide an organization’s cloud journey.</a:t>
            </a:r>
          </a:p>
          <a:p>
            <a:pPr marL="285750" indent="-285750">
              <a:buFont typeface="Wingdings" panose="05000000000000000000" pitchFamily="2" charset="2"/>
              <a:buChar char="Ø"/>
            </a:pPr>
            <a:r>
              <a:rPr lang="en-US" dirty="0"/>
              <a:t>The foundational methodologies (Strategy, Plan, Ready, and Adopt) are sequential. They help you define business outcomes, prepare your organization and environment, and deploy workloads to Azure. </a:t>
            </a:r>
          </a:p>
          <a:p>
            <a:pPr marL="285750" indent="-285750">
              <a:buFont typeface="Wingdings" panose="05000000000000000000" pitchFamily="2" charset="2"/>
              <a:buChar char="Ø"/>
            </a:pPr>
            <a:r>
              <a:rPr lang="en-US" dirty="0"/>
              <a:t>Once workloads are running in Azure, the operational methodologies (Govern, Secure, and Manage) define different aspects of your cloud operations that help ensure your Azure environment remains compliant, protected, and optimized over time.</a:t>
            </a:r>
            <a:endParaRPr lang="en-IN" dirty="0"/>
          </a:p>
        </p:txBody>
      </p:sp>
      <p:graphicFrame>
        <p:nvGraphicFramePr>
          <p:cNvPr id="8" name="Table 7">
            <a:extLst>
              <a:ext uri="{FF2B5EF4-FFF2-40B4-BE49-F238E27FC236}">
                <a16:creationId xmlns:a16="http://schemas.microsoft.com/office/drawing/2014/main" id="{2333A886-8073-0C35-190D-F7C246EFA42C}"/>
              </a:ext>
            </a:extLst>
          </p:cNvPr>
          <p:cNvGraphicFramePr>
            <a:graphicFrameLocks noGrp="1"/>
          </p:cNvGraphicFramePr>
          <p:nvPr>
            <p:extLst>
              <p:ext uri="{D42A27DB-BD31-4B8C-83A1-F6EECF244321}">
                <p14:modId xmlns:p14="http://schemas.microsoft.com/office/powerpoint/2010/main" val="1000920512"/>
              </p:ext>
            </p:extLst>
          </p:nvPr>
        </p:nvGraphicFramePr>
        <p:xfrm>
          <a:off x="4772025" y="457200"/>
          <a:ext cx="6638025" cy="5689075"/>
        </p:xfrm>
        <a:graphic>
          <a:graphicData uri="http://schemas.openxmlformats.org/drawingml/2006/table">
            <a:tbl>
              <a:tblPr/>
              <a:tblGrid>
                <a:gridCol w="2212675">
                  <a:extLst>
                    <a:ext uri="{9D8B030D-6E8A-4147-A177-3AD203B41FA5}">
                      <a16:colId xmlns:a16="http://schemas.microsoft.com/office/drawing/2014/main" val="3090866046"/>
                    </a:ext>
                  </a:extLst>
                </a:gridCol>
                <a:gridCol w="2212675">
                  <a:extLst>
                    <a:ext uri="{9D8B030D-6E8A-4147-A177-3AD203B41FA5}">
                      <a16:colId xmlns:a16="http://schemas.microsoft.com/office/drawing/2014/main" val="4054345817"/>
                    </a:ext>
                  </a:extLst>
                </a:gridCol>
                <a:gridCol w="2212675">
                  <a:extLst>
                    <a:ext uri="{9D8B030D-6E8A-4147-A177-3AD203B41FA5}">
                      <a16:colId xmlns:a16="http://schemas.microsoft.com/office/drawing/2014/main" val="1020120018"/>
                    </a:ext>
                  </a:extLst>
                </a:gridCol>
              </a:tblGrid>
              <a:tr h="348748">
                <a:tc>
                  <a:txBody>
                    <a:bodyPr/>
                    <a:lstStyle/>
                    <a:p>
                      <a:pPr algn="l" fontAlgn="t">
                        <a:buNone/>
                      </a:pPr>
                      <a:r>
                        <a:rPr lang="en-IN" sz="1400" dirty="0">
                          <a:effectLst/>
                        </a:rPr>
                        <a:t>CAF methodology (phases)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IN" sz="1400">
                          <a:effectLst/>
                        </a:rPr>
                        <a:t>Outcome</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IN" sz="1400">
                          <a:effectLst/>
                        </a:rPr>
                        <a:t>How</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608154054"/>
                  </a:ext>
                </a:extLst>
              </a:tr>
              <a:tr h="498211">
                <a:tc>
                  <a:txBody>
                    <a:bodyPr/>
                    <a:lstStyle/>
                    <a:p>
                      <a:pPr algn="l" fontAlgn="t">
                        <a:buNone/>
                      </a:pPr>
                      <a:r>
                        <a:rPr lang="en-IN" sz="1400" dirty="0">
                          <a:effectLst/>
                        </a:rPr>
                        <a:t>🚀 </a:t>
                      </a:r>
                      <a:r>
                        <a:rPr lang="en-IN" sz="1400" b="1" u="none" strike="noStrike" dirty="0">
                          <a:solidFill>
                            <a:srgbClr val="0065B3"/>
                          </a:solidFill>
                          <a:effectLst/>
                          <a:hlinkClick r:id="rId2"/>
                        </a:rPr>
                        <a:t>1. Strategy</a:t>
                      </a:r>
                      <a:endParaRPr lang="en-IN" sz="1400" dirty="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Cloud adoption aligned to business goals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dirty="0">
                          <a:effectLst/>
                        </a:rPr>
                        <a:t>Map business drivers to cloud outcomes.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952630307"/>
                  </a:ext>
                </a:extLst>
              </a:tr>
              <a:tr h="797139">
                <a:tc>
                  <a:txBody>
                    <a:bodyPr/>
                    <a:lstStyle/>
                    <a:p>
                      <a:pPr algn="l" fontAlgn="t">
                        <a:buNone/>
                      </a:pPr>
                      <a:r>
                        <a:rPr lang="en-IN" sz="1400">
                          <a:effectLst/>
                        </a:rPr>
                        <a:t>📝 </a:t>
                      </a:r>
                      <a:r>
                        <a:rPr lang="en-IN" sz="1400" b="1" u="none" strike="noStrike">
                          <a:solidFill>
                            <a:srgbClr val="0065B3"/>
                          </a:solidFill>
                          <a:effectLst/>
                          <a:hlinkClick r:id="rId3"/>
                        </a:rPr>
                        <a:t>2. Plan</a:t>
                      </a:r>
                      <a:endParaRPr lang="en-IN" sz="140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A plan for cloud adoption</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Operating model, cloud skills, migration plan, and cloud cost estimation.</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47052368"/>
                  </a:ext>
                </a:extLst>
              </a:tr>
              <a:tr h="1096065">
                <a:tc>
                  <a:txBody>
                    <a:bodyPr/>
                    <a:lstStyle/>
                    <a:p>
                      <a:pPr algn="l" fontAlgn="t">
                        <a:buNone/>
                      </a:pPr>
                      <a:r>
                        <a:rPr lang="en-IN" sz="1400" dirty="0">
                          <a:effectLst/>
                        </a:rPr>
                        <a:t>🛠️ </a:t>
                      </a:r>
                      <a:r>
                        <a:rPr lang="en-IN" sz="1400" b="1" u="none" strike="noStrike" dirty="0">
                          <a:solidFill>
                            <a:srgbClr val="0065B3"/>
                          </a:solidFill>
                          <a:effectLst/>
                          <a:hlinkClick r:id="rId4"/>
                        </a:rPr>
                        <a:t>3. Ready</a:t>
                      </a:r>
                      <a:endParaRPr lang="en-IN" sz="1400" dirty="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dirty="0">
                          <a:effectLst/>
                        </a:rPr>
                        <a:t>An Azure environment ready for workloads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IN" sz="1400">
                          <a:effectLst/>
                        </a:rPr>
                        <a:t>Azure purchasing, tenant setup, platform landing zone, application landing zones.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42335601"/>
                  </a:ext>
                </a:extLst>
              </a:tr>
              <a:tr h="797139">
                <a:tc>
                  <a:txBody>
                    <a:bodyPr/>
                    <a:lstStyle/>
                    <a:p>
                      <a:pPr algn="l" fontAlgn="t">
                        <a:buNone/>
                      </a:pPr>
                      <a:r>
                        <a:rPr lang="en-IN" sz="1400" dirty="0">
                          <a:effectLst/>
                        </a:rPr>
                        <a:t>🌐 </a:t>
                      </a:r>
                      <a:r>
                        <a:rPr lang="en-IN" sz="1400" b="1" u="none" strike="noStrike" dirty="0">
                          <a:solidFill>
                            <a:srgbClr val="0065B3"/>
                          </a:solidFill>
                          <a:effectLst/>
                          <a:hlinkClick r:id="rId5"/>
                        </a:rPr>
                        <a:t>4. Adopt</a:t>
                      </a:r>
                      <a:endParaRPr lang="en-IN" sz="1400" dirty="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Workloads in Azure meeting business needs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Migrate, modernize, or build-cloud native workloads.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605451749"/>
                  </a:ext>
                </a:extLst>
              </a:tr>
              <a:tr h="797139">
                <a:tc>
                  <a:txBody>
                    <a:bodyPr/>
                    <a:lstStyle/>
                    <a:p>
                      <a:pPr algn="l" fontAlgn="t">
                        <a:buNone/>
                      </a:pPr>
                      <a:r>
                        <a:rPr lang="en-IN" sz="1400">
                          <a:effectLst/>
                        </a:rPr>
                        <a:t>🛡️ </a:t>
                      </a:r>
                      <a:r>
                        <a:rPr lang="en-IN" sz="1400" b="1" u="none" strike="noStrike">
                          <a:solidFill>
                            <a:srgbClr val="0065B3"/>
                          </a:solidFill>
                          <a:effectLst/>
                          <a:hlinkClick r:id="rId6"/>
                        </a:rPr>
                        <a:t>5. Govern</a:t>
                      </a:r>
                      <a:endParaRPr lang="en-IN" sz="140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IN" sz="1400">
                          <a:effectLst/>
                        </a:rPr>
                        <a:t>Control workloads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Assess cloud risks and mitigate with Azure and Microsoft tools.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928179060"/>
                  </a:ext>
                </a:extLst>
              </a:tr>
              <a:tr h="706960">
                <a:tc>
                  <a:txBody>
                    <a:bodyPr/>
                    <a:lstStyle/>
                    <a:p>
                      <a:pPr algn="l" fontAlgn="t">
                        <a:buNone/>
                      </a:pPr>
                      <a:r>
                        <a:rPr lang="en-IN" sz="1400">
                          <a:effectLst/>
                        </a:rPr>
                        <a:t>🔒 </a:t>
                      </a:r>
                      <a:r>
                        <a:rPr lang="en-IN" sz="1400" b="1" u="none" strike="noStrike">
                          <a:solidFill>
                            <a:srgbClr val="0065B3"/>
                          </a:solidFill>
                          <a:effectLst/>
                          <a:hlinkClick r:id="rId7"/>
                        </a:rPr>
                        <a:t>6. Secure</a:t>
                      </a:r>
                      <a:endParaRPr lang="en-IN" sz="140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IN" sz="1400" dirty="0">
                          <a:effectLst/>
                        </a:rPr>
                        <a:t>Protect workloads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dirty="0">
                          <a:effectLst/>
                        </a:rPr>
                        <a:t>Apply security control with </a:t>
                      </a:r>
                      <a:r>
                        <a:rPr lang="en-US" sz="1400" dirty="0" err="1">
                          <a:effectLst/>
                        </a:rPr>
                        <a:t>with</a:t>
                      </a:r>
                      <a:r>
                        <a:rPr lang="en-US" sz="1400" dirty="0">
                          <a:effectLst/>
                        </a:rPr>
                        <a:t> Azure and Microsoft tools.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970482806"/>
                  </a:ext>
                </a:extLst>
              </a:tr>
              <a:tr h="647674">
                <a:tc>
                  <a:txBody>
                    <a:bodyPr/>
                    <a:lstStyle/>
                    <a:p>
                      <a:pPr algn="l" fontAlgn="t">
                        <a:buNone/>
                      </a:pPr>
                      <a:r>
                        <a:rPr lang="en-IN" sz="1400">
                          <a:effectLst/>
                        </a:rPr>
                        <a:t>⚙️ </a:t>
                      </a:r>
                      <a:r>
                        <a:rPr lang="en-IN" sz="1400" b="1" u="none" strike="noStrike">
                          <a:solidFill>
                            <a:srgbClr val="0065B3"/>
                          </a:solidFill>
                          <a:effectLst/>
                          <a:hlinkClick r:id="rId8"/>
                        </a:rPr>
                        <a:t>7. Manage</a:t>
                      </a:r>
                      <a:endParaRPr lang="en-IN" sz="1400">
                        <a:effectLst/>
                      </a:endParaRP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IN" sz="1400">
                          <a:effectLst/>
                        </a:rPr>
                        <a:t>Optimize workloads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dirty="0">
                          <a:effectLst/>
                        </a:rPr>
                        <a:t>Administer workloads with Azure and Microsoft tools.</a:t>
                      </a:r>
                    </a:p>
                  </a:txBody>
                  <a:tcPr marL="38507" marR="38507" marT="19254" marB="19254">
                    <a:lnL w="6767" cap="flat" cmpd="sng" algn="ctr">
                      <a:solidFill>
                        <a:srgbClr val="D1D1D1"/>
                      </a:solidFill>
                      <a:prstDash val="solid"/>
                      <a:round/>
                      <a:headEnd type="none" w="med" len="med"/>
                      <a:tailEnd type="none" w="med" len="med"/>
                    </a:lnL>
                    <a:lnR w="6767" cap="flat" cmpd="sng" algn="ctr">
                      <a:solidFill>
                        <a:srgbClr val="D1D1D1"/>
                      </a:solidFill>
                      <a:prstDash val="solid"/>
                      <a:round/>
                      <a:headEnd type="none" w="med" len="med"/>
                      <a:tailEnd type="none" w="med" len="med"/>
                    </a:lnR>
                    <a:lnT w="6767" cap="flat" cmpd="sng" algn="ctr">
                      <a:solidFill>
                        <a:srgbClr val="D1D1D1"/>
                      </a:solidFill>
                      <a:prstDash val="solid"/>
                      <a:round/>
                      <a:headEnd type="none" w="med" len="med"/>
                      <a:tailEnd type="none" w="med" len="med"/>
                    </a:lnT>
                    <a:lnB w="6767"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276381513"/>
                  </a:ext>
                </a:extLst>
              </a:tr>
            </a:tbl>
          </a:graphicData>
        </a:graphic>
      </p:graphicFrame>
      <p:sp>
        <p:nvSpPr>
          <p:cNvPr id="10" name="Rectangle 9">
            <a:extLst>
              <a:ext uri="{FF2B5EF4-FFF2-40B4-BE49-F238E27FC236}">
                <a16:creationId xmlns:a16="http://schemas.microsoft.com/office/drawing/2014/main" id="{B0823AB9-46F6-3060-4F40-AE6D624759D7}"/>
              </a:ext>
            </a:extLst>
          </p:cNvPr>
          <p:cNvSpPr/>
          <p:nvPr/>
        </p:nvSpPr>
        <p:spPr>
          <a:xfrm>
            <a:off x="4772025" y="457200"/>
            <a:ext cx="6638025" cy="35397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60E0AEC-7A15-677D-4581-1D492328AFA5}"/>
              </a:ext>
            </a:extLst>
          </p:cNvPr>
          <p:cNvSpPr/>
          <p:nvPr/>
        </p:nvSpPr>
        <p:spPr>
          <a:xfrm>
            <a:off x="4772026" y="3996966"/>
            <a:ext cx="6638024" cy="214931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4889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70A8844-3AA9-E4C8-6B4E-B828E8951C33}"/>
              </a:ext>
            </a:extLst>
          </p:cNvPr>
          <p:cNvSpPr txBox="1"/>
          <p:nvPr/>
        </p:nvSpPr>
        <p:spPr>
          <a:xfrm>
            <a:off x="294588" y="1342476"/>
            <a:ext cx="6094428" cy="369332"/>
          </a:xfrm>
          <a:prstGeom prst="rect">
            <a:avLst/>
          </a:prstGeom>
          <a:noFill/>
        </p:spPr>
        <p:txBody>
          <a:bodyPr wrap="square">
            <a:spAutoFit/>
          </a:bodyPr>
          <a:lstStyle/>
          <a:p>
            <a:pPr algn="l">
              <a:buNone/>
            </a:pPr>
            <a:r>
              <a:rPr lang="en-US" b="1" i="0" dirty="0">
                <a:solidFill>
                  <a:srgbClr val="161616"/>
                </a:solidFill>
                <a:effectLst/>
                <a:latin typeface="Segoe UI" panose="020B0502040204020203" pitchFamily="34" charset="0"/>
              </a:rPr>
              <a:t>Why use the Cloud Adoption Framework?</a:t>
            </a:r>
          </a:p>
        </p:txBody>
      </p:sp>
      <p:sp>
        <p:nvSpPr>
          <p:cNvPr id="9" name="TextBox 8">
            <a:extLst>
              <a:ext uri="{FF2B5EF4-FFF2-40B4-BE49-F238E27FC236}">
                <a16:creationId xmlns:a16="http://schemas.microsoft.com/office/drawing/2014/main" id="{4CE2ED87-B1B3-3B2F-F5EA-E116C91E10E3}"/>
              </a:ext>
            </a:extLst>
          </p:cNvPr>
          <p:cNvSpPr txBox="1"/>
          <p:nvPr/>
        </p:nvSpPr>
        <p:spPr>
          <a:xfrm>
            <a:off x="294588" y="1803670"/>
            <a:ext cx="11897412" cy="1169551"/>
          </a:xfrm>
          <a:prstGeom prst="rect">
            <a:avLst/>
          </a:prstGeom>
          <a:noFill/>
        </p:spPr>
        <p:txBody>
          <a:bodyPr wrap="square">
            <a:spAutoFit/>
          </a:bodyPr>
          <a:lstStyle/>
          <a:p>
            <a:pPr marL="342900" indent="-342900">
              <a:buFont typeface="+mj-lt"/>
              <a:buAutoNum type="arabicPeriod"/>
            </a:pPr>
            <a:r>
              <a:rPr lang="en-US" sz="1400" b="0" i="0" dirty="0">
                <a:solidFill>
                  <a:srgbClr val="161616"/>
                </a:solidFill>
                <a:effectLst/>
                <a:latin typeface="Segoe UI" panose="020B0502040204020203" pitchFamily="34" charset="0"/>
              </a:rPr>
              <a:t>The Cloud Adoption Framework is about adopting cloud technologies and integrating them into your business. It provides proven practices to govern, secure, and manage all workloads.</a:t>
            </a:r>
          </a:p>
          <a:p>
            <a:pPr marL="342900" indent="-342900">
              <a:buFont typeface="+mj-lt"/>
              <a:buAutoNum type="arabicPeriod"/>
            </a:pPr>
            <a:r>
              <a:rPr lang="en-US" sz="1400" dirty="0">
                <a:solidFill>
                  <a:srgbClr val="161616"/>
                </a:solidFill>
                <a:latin typeface="Segoe UI" panose="020B0502040204020203" pitchFamily="34" charset="0"/>
              </a:rPr>
              <a:t>It provides structured processes for migrating, modernizing, and building cloud‑native solutions. </a:t>
            </a:r>
          </a:p>
          <a:p>
            <a:pPr marL="342900" indent="-342900">
              <a:buFont typeface="+mj-lt"/>
              <a:buAutoNum type="arabicPeriod"/>
            </a:pPr>
            <a:r>
              <a:rPr lang="en-US" sz="1400" dirty="0">
                <a:solidFill>
                  <a:srgbClr val="161616"/>
                </a:solidFill>
                <a:latin typeface="Segoe UI" panose="020B0502040204020203" pitchFamily="34" charset="0"/>
              </a:rPr>
              <a:t>Throughout each stage of adoption, the framework guides you to the right tools, architectures, and other resources to help you achieve your organizational goals.</a:t>
            </a:r>
            <a:endParaRPr lang="en-IN" sz="1400" dirty="0">
              <a:solidFill>
                <a:srgbClr val="161616"/>
              </a:solidFill>
              <a:latin typeface="Segoe UI" panose="020B0502040204020203" pitchFamily="34" charset="0"/>
            </a:endParaRPr>
          </a:p>
        </p:txBody>
      </p:sp>
      <p:sp>
        <p:nvSpPr>
          <p:cNvPr id="11" name="TextBox 10">
            <a:extLst>
              <a:ext uri="{FF2B5EF4-FFF2-40B4-BE49-F238E27FC236}">
                <a16:creationId xmlns:a16="http://schemas.microsoft.com/office/drawing/2014/main" id="{A59DB8BB-DA66-9E33-6BA6-7C29E37CC9DD}"/>
              </a:ext>
            </a:extLst>
          </p:cNvPr>
          <p:cNvSpPr txBox="1"/>
          <p:nvPr/>
        </p:nvSpPr>
        <p:spPr>
          <a:xfrm>
            <a:off x="294588" y="3176205"/>
            <a:ext cx="6094428" cy="369332"/>
          </a:xfrm>
          <a:prstGeom prst="rect">
            <a:avLst/>
          </a:prstGeom>
          <a:noFill/>
        </p:spPr>
        <p:txBody>
          <a:bodyPr wrap="square">
            <a:spAutoFit/>
          </a:bodyPr>
          <a:lstStyle/>
          <a:p>
            <a:pPr algn="l">
              <a:buNone/>
            </a:pPr>
            <a:r>
              <a:rPr lang="en-US" b="1" i="0" dirty="0">
                <a:solidFill>
                  <a:srgbClr val="161616"/>
                </a:solidFill>
                <a:effectLst/>
                <a:latin typeface="Segoe UI" panose="020B0502040204020203" pitchFamily="34" charset="0"/>
              </a:rPr>
              <a:t>Who is the Cloud Adoption Framework for?</a:t>
            </a:r>
          </a:p>
        </p:txBody>
      </p:sp>
      <p:sp>
        <p:nvSpPr>
          <p:cNvPr id="13" name="TextBox 12">
            <a:extLst>
              <a:ext uri="{FF2B5EF4-FFF2-40B4-BE49-F238E27FC236}">
                <a16:creationId xmlns:a16="http://schemas.microsoft.com/office/drawing/2014/main" id="{0C78D35E-4528-37E6-FC2F-707846506F92}"/>
              </a:ext>
            </a:extLst>
          </p:cNvPr>
          <p:cNvSpPr txBox="1"/>
          <p:nvPr/>
        </p:nvSpPr>
        <p:spPr>
          <a:xfrm>
            <a:off x="426564" y="3667274"/>
            <a:ext cx="11602038" cy="1384995"/>
          </a:xfrm>
          <a:prstGeom prst="rect">
            <a:avLst/>
          </a:prstGeom>
          <a:noFill/>
        </p:spPr>
        <p:txBody>
          <a:bodyPr wrap="square">
            <a:spAutoFit/>
          </a:bodyPr>
          <a:lstStyle/>
          <a:p>
            <a:pPr marL="285750" indent="-285750">
              <a:buFont typeface="Arial" panose="020B0604020202020204" pitchFamily="34" charset="0"/>
              <a:buChar char="•"/>
            </a:pPr>
            <a:r>
              <a:rPr lang="en-US" sz="1400" dirty="0">
                <a:solidFill>
                  <a:srgbClr val="161616"/>
                </a:solidFill>
                <a:latin typeface="Segoe UI" panose="020B0502040204020203" pitchFamily="34" charset="0"/>
              </a:rPr>
              <a:t>The Microsoft Cloud Adoption Framework serves organizations across all industries and scales pursuing strategic Azure cloud adoption.</a:t>
            </a:r>
          </a:p>
          <a:p>
            <a:pPr marL="285750" indent="-285750">
              <a:buFont typeface="Arial" panose="020B0604020202020204" pitchFamily="34" charset="0"/>
              <a:buChar char="•"/>
            </a:pPr>
            <a:r>
              <a:rPr lang="en-US" sz="1400" dirty="0">
                <a:solidFill>
                  <a:srgbClr val="161616"/>
                </a:solidFill>
                <a:latin typeface="Segoe UI" panose="020B0502040204020203" pitchFamily="34" charset="0"/>
              </a:rPr>
              <a:t>This framework adapts to your specific cloud maturity level, from initial Azure evaluation through advanced </a:t>
            </a:r>
            <a:r>
              <a:rPr lang="en-US" sz="1400" dirty="0" err="1">
                <a:solidFill>
                  <a:srgbClr val="161616"/>
                </a:solidFill>
                <a:latin typeface="Segoe UI" panose="020B0502040204020203" pitchFamily="34" charset="0"/>
              </a:rPr>
              <a:t>multicloud</a:t>
            </a:r>
            <a:r>
              <a:rPr lang="en-US" sz="1400" dirty="0">
                <a:solidFill>
                  <a:srgbClr val="161616"/>
                </a:solidFill>
                <a:latin typeface="Segoe UI" panose="020B0502040204020203" pitchFamily="34" charset="0"/>
              </a:rPr>
              <a:t> optimization strategies, It's designed for anyone in the organization responsible for technology adoption, whether that responsibility spans business strategy, technology governance, cloud integration, or day‑to‑day operations.</a:t>
            </a:r>
          </a:p>
          <a:p>
            <a:endParaRPr lang="en-IN" sz="1400" dirty="0">
              <a:solidFill>
                <a:srgbClr val="161616"/>
              </a:solidFill>
              <a:latin typeface="Segoe UI" panose="020B0502040204020203" pitchFamily="34" charset="0"/>
            </a:endParaRPr>
          </a:p>
          <a:p>
            <a:endParaRPr lang="en-IN" sz="1400" dirty="0">
              <a:solidFill>
                <a:srgbClr val="161616"/>
              </a:solidFill>
              <a:latin typeface="Segoe UI" panose="020B0502040204020203" pitchFamily="34" charset="0"/>
            </a:endParaRPr>
          </a:p>
        </p:txBody>
      </p:sp>
    </p:spTree>
    <p:extLst>
      <p:ext uri="{BB962C8B-B14F-4D97-AF65-F5344CB8AC3E}">
        <p14:creationId xmlns:p14="http://schemas.microsoft.com/office/powerpoint/2010/main" val="25611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59786E5-1ABF-B0CF-76AC-87DE3283B4E7}"/>
              </a:ext>
            </a:extLst>
          </p:cNvPr>
          <p:cNvGraphicFramePr>
            <a:graphicFrameLocks noGrp="1"/>
          </p:cNvGraphicFramePr>
          <p:nvPr>
            <p:extLst>
              <p:ext uri="{D42A27DB-BD31-4B8C-83A1-F6EECF244321}">
                <p14:modId xmlns:p14="http://schemas.microsoft.com/office/powerpoint/2010/main" val="349832358"/>
              </p:ext>
            </p:extLst>
          </p:nvPr>
        </p:nvGraphicFramePr>
        <p:xfrm>
          <a:off x="159468" y="307911"/>
          <a:ext cx="11746584" cy="529300"/>
        </p:xfrm>
        <a:graphic>
          <a:graphicData uri="http://schemas.openxmlformats.org/drawingml/2006/table">
            <a:tbl>
              <a:tblPr>
                <a:tableStyleId>{775DCB02-9BB8-47FD-8907-85C794F793BA}</a:tableStyleId>
              </a:tblPr>
              <a:tblGrid>
                <a:gridCol w="2425600">
                  <a:extLst>
                    <a:ext uri="{9D8B030D-6E8A-4147-A177-3AD203B41FA5}">
                      <a16:colId xmlns:a16="http://schemas.microsoft.com/office/drawing/2014/main" val="1876620401"/>
                    </a:ext>
                  </a:extLst>
                </a:gridCol>
                <a:gridCol w="4660492">
                  <a:extLst>
                    <a:ext uri="{9D8B030D-6E8A-4147-A177-3AD203B41FA5}">
                      <a16:colId xmlns:a16="http://schemas.microsoft.com/office/drawing/2014/main" val="3104072018"/>
                    </a:ext>
                  </a:extLst>
                </a:gridCol>
                <a:gridCol w="4660492">
                  <a:extLst>
                    <a:ext uri="{9D8B030D-6E8A-4147-A177-3AD203B41FA5}">
                      <a16:colId xmlns:a16="http://schemas.microsoft.com/office/drawing/2014/main" val="3046348982"/>
                    </a:ext>
                  </a:extLst>
                </a:gridCol>
              </a:tblGrid>
              <a:tr h="234790">
                <a:tc>
                  <a:txBody>
                    <a:bodyPr/>
                    <a:lstStyle/>
                    <a:p>
                      <a:pPr algn="ctr" fontAlgn="t">
                        <a:buNone/>
                      </a:pPr>
                      <a:r>
                        <a:rPr lang="en-IN" sz="1400" dirty="0">
                          <a:effectLst/>
                        </a:rPr>
                        <a:t>CAF methodology (phases)</a:t>
                      </a:r>
                    </a:p>
                  </a:txBody>
                  <a:tcPr marL="38507" marR="38507" marT="19254" marB="19254"/>
                </a:tc>
                <a:tc>
                  <a:txBody>
                    <a:bodyPr/>
                    <a:lstStyle/>
                    <a:p>
                      <a:pPr algn="ctr" fontAlgn="t">
                        <a:buNone/>
                      </a:pPr>
                      <a:r>
                        <a:rPr lang="en-IN" sz="1400">
                          <a:effectLst/>
                        </a:rPr>
                        <a:t>Outcome</a:t>
                      </a:r>
                    </a:p>
                  </a:txBody>
                  <a:tcPr marL="38507" marR="38507" marT="19254" marB="19254"/>
                </a:tc>
                <a:tc>
                  <a:txBody>
                    <a:bodyPr/>
                    <a:lstStyle/>
                    <a:p>
                      <a:pPr algn="ctr" fontAlgn="t">
                        <a:buNone/>
                      </a:pPr>
                      <a:r>
                        <a:rPr lang="en-IN" sz="1400" dirty="0">
                          <a:effectLst/>
                        </a:rPr>
                        <a:t>How</a:t>
                      </a:r>
                    </a:p>
                  </a:txBody>
                  <a:tcPr marL="38507" marR="38507" marT="19254" marB="19254"/>
                </a:tc>
                <a:extLst>
                  <a:ext uri="{0D108BD9-81ED-4DB2-BD59-A6C34878D82A}">
                    <a16:rowId xmlns:a16="http://schemas.microsoft.com/office/drawing/2014/main" val="1107964937"/>
                  </a:ext>
                </a:extLst>
              </a:tr>
              <a:tr h="277432">
                <a:tc>
                  <a:txBody>
                    <a:bodyPr/>
                    <a:lstStyle/>
                    <a:p>
                      <a:pPr algn="ctr" fontAlgn="t">
                        <a:buNone/>
                      </a:pPr>
                      <a:r>
                        <a:rPr lang="en-IN" sz="1400" dirty="0">
                          <a:effectLst/>
                        </a:rPr>
                        <a:t>🚀 </a:t>
                      </a:r>
                      <a:r>
                        <a:rPr lang="en-IN" sz="1400" b="1" u="none" strike="noStrike" dirty="0">
                          <a:solidFill>
                            <a:srgbClr val="0065B3"/>
                          </a:solidFill>
                          <a:effectLst/>
                          <a:hlinkClick r:id="rId2"/>
                        </a:rPr>
                        <a:t>1. Strategy</a:t>
                      </a:r>
                      <a:endParaRPr lang="en-IN" sz="1400" dirty="0">
                        <a:effectLst/>
                      </a:endParaRPr>
                    </a:p>
                  </a:txBody>
                  <a:tcPr marL="38507" marR="38507" marT="19254" marB="19254"/>
                </a:tc>
                <a:tc>
                  <a:txBody>
                    <a:bodyPr/>
                    <a:lstStyle/>
                    <a:p>
                      <a:pPr algn="ctr" fontAlgn="t">
                        <a:buNone/>
                      </a:pPr>
                      <a:r>
                        <a:rPr lang="en-US" sz="1400" dirty="0">
                          <a:effectLst/>
                        </a:rPr>
                        <a:t>Cloud adoption aligned to business goals</a:t>
                      </a:r>
                    </a:p>
                  </a:txBody>
                  <a:tcPr marL="38507" marR="38507" marT="19254" marB="19254"/>
                </a:tc>
                <a:tc>
                  <a:txBody>
                    <a:bodyPr/>
                    <a:lstStyle/>
                    <a:p>
                      <a:pPr algn="ctr" fontAlgn="t">
                        <a:buNone/>
                      </a:pPr>
                      <a:r>
                        <a:rPr lang="en-US" sz="1400" dirty="0">
                          <a:effectLst/>
                        </a:rPr>
                        <a:t>Map business drivers to cloud outcomes.</a:t>
                      </a:r>
                    </a:p>
                  </a:txBody>
                  <a:tcPr marL="38507" marR="38507" marT="19254" marB="19254"/>
                </a:tc>
                <a:extLst>
                  <a:ext uri="{0D108BD9-81ED-4DB2-BD59-A6C34878D82A}">
                    <a16:rowId xmlns:a16="http://schemas.microsoft.com/office/drawing/2014/main" val="4003620775"/>
                  </a:ext>
                </a:extLst>
              </a:tr>
            </a:tbl>
          </a:graphicData>
        </a:graphic>
      </p:graphicFrame>
      <p:sp>
        <p:nvSpPr>
          <p:cNvPr id="4" name="TextBox 3">
            <a:extLst>
              <a:ext uri="{FF2B5EF4-FFF2-40B4-BE49-F238E27FC236}">
                <a16:creationId xmlns:a16="http://schemas.microsoft.com/office/drawing/2014/main" id="{F7FEDF62-60C3-F87E-6CD2-9C6555E93406}"/>
              </a:ext>
            </a:extLst>
          </p:cNvPr>
          <p:cNvSpPr txBox="1"/>
          <p:nvPr/>
        </p:nvSpPr>
        <p:spPr>
          <a:xfrm>
            <a:off x="159467" y="1112611"/>
            <a:ext cx="11677451" cy="1200329"/>
          </a:xfrm>
          <a:prstGeom prst="rect">
            <a:avLst/>
          </a:prstGeom>
          <a:noFill/>
        </p:spPr>
        <p:txBody>
          <a:bodyPr wrap="square">
            <a:spAutoFit/>
          </a:bodyPr>
          <a:lstStyle/>
          <a:p>
            <a:r>
              <a:rPr lang="en-US" b="1" i="0" dirty="0">
                <a:solidFill>
                  <a:srgbClr val="161616"/>
                </a:solidFill>
                <a:effectLst/>
                <a:latin typeface="Segoe UI" panose="020B0502040204020203" pitchFamily="34" charset="0"/>
              </a:rPr>
              <a:t>Develop a cloud adoption strategy </a:t>
            </a:r>
            <a:r>
              <a:rPr lang="en-US" b="1" i="0" dirty="0">
                <a:solidFill>
                  <a:srgbClr val="161616"/>
                </a:solidFill>
                <a:effectLst/>
                <a:latin typeface="Segoe UI" panose="020B0502040204020203" pitchFamily="34" charset="0"/>
                <a:sym typeface="Wingdings" panose="05000000000000000000" pitchFamily="2" charset="2"/>
              </a:rPr>
              <a:t> </a:t>
            </a:r>
            <a:r>
              <a:rPr lang="en-US" dirty="0"/>
              <a:t>A sound strategy starts with a clear understanding of your business objectives. From there, it defines the priorities, guardrails, and investment decisions that align cloud initiatives to those objectives.</a:t>
            </a:r>
            <a:endParaRPr lang="en-US" b="1" i="0" dirty="0">
              <a:solidFill>
                <a:srgbClr val="161616"/>
              </a:solidFill>
              <a:effectLst/>
              <a:latin typeface="Segoe UI" panose="020B0502040204020203" pitchFamily="34" charset="0"/>
            </a:endParaRPr>
          </a:p>
          <a:p>
            <a:pPr>
              <a:buNone/>
            </a:pPr>
            <a:br>
              <a:rPr lang="en-US" dirty="0"/>
            </a:br>
            <a:endParaRPr lang="en-IN" dirty="0"/>
          </a:p>
        </p:txBody>
      </p:sp>
      <p:pic>
        <p:nvPicPr>
          <p:cNvPr id="7" name="Picture 6">
            <a:extLst>
              <a:ext uri="{FF2B5EF4-FFF2-40B4-BE49-F238E27FC236}">
                <a16:creationId xmlns:a16="http://schemas.microsoft.com/office/drawing/2014/main" id="{B8616B9B-8684-0748-CD01-9615FE12608A}"/>
              </a:ext>
            </a:extLst>
          </p:cNvPr>
          <p:cNvPicPr>
            <a:picLocks noChangeAspect="1"/>
          </p:cNvPicPr>
          <p:nvPr/>
        </p:nvPicPr>
        <p:blipFill>
          <a:blip r:embed="rId3"/>
          <a:stretch>
            <a:fillRect/>
          </a:stretch>
        </p:blipFill>
        <p:spPr>
          <a:xfrm>
            <a:off x="0" y="2850883"/>
            <a:ext cx="11677451" cy="1572121"/>
          </a:xfrm>
          <a:prstGeom prst="rect">
            <a:avLst/>
          </a:prstGeom>
        </p:spPr>
      </p:pic>
      <p:sp>
        <p:nvSpPr>
          <p:cNvPr id="9" name="TextBox 8">
            <a:extLst>
              <a:ext uri="{FF2B5EF4-FFF2-40B4-BE49-F238E27FC236}">
                <a16:creationId xmlns:a16="http://schemas.microsoft.com/office/drawing/2014/main" id="{188D6D6E-4509-BEB9-997C-4B41895C9F33}"/>
              </a:ext>
            </a:extLst>
          </p:cNvPr>
          <p:cNvSpPr txBox="1"/>
          <p:nvPr/>
        </p:nvSpPr>
        <p:spPr>
          <a:xfrm>
            <a:off x="159467" y="1789720"/>
            <a:ext cx="11677451" cy="523220"/>
          </a:xfrm>
          <a:prstGeom prst="rect">
            <a:avLst/>
          </a:prstGeom>
          <a:noFill/>
        </p:spPr>
        <p:txBody>
          <a:bodyPr wrap="square">
            <a:spAutoFit/>
          </a:bodyPr>
          <a:lstStyle/>
          <a:p>
            <a:r>
              <a:rPr lang="en-US" sz="1400" b="0" i="0" dirty="0">
                <a:solidFill>
                  <a:srgbClr val="161616"/>
                </a:solidFill>
                <a:effectLst/>
                <a:latin typeface="Segoe UI" panose="020B0502040204020203" pitchFamily="34" charset="0"/>
              </a:rPr>
              <a:t>Strategy isn't a one-time exercise. Organizations mature through iteration, so treat this guidance as a recurring input to your strategy rather than a one-pass document. Revisit it as business conditions, regulatory requirements, and your cloud footprint evolve.</a:t>
            </a:r>
            <a:endParaRPr lang="en-IN" sz="1400" dirty="0"/>
          </a:p>
        </p:txBody>
      </p:sp>
      <p:sp>
        <p:nvSpPr>
          <p:cNvPr id="11" name="TextBox 10">
            <a:extLst>
              <a:ext uri="{FF2B5EF4-FFF2-40B4-BE49-F238E27FC236}">
                <a16:creationId xmlns:a16="http://schemas.microsoft.com/office/drawing/2014/main" id="{D21ADFA4-0729-750C-B148-847D24CA6C6D}"/>
              </a:ext>
            </a:extLst>
          </p:cNvPr>
          <p:cNvSpPr txBox="1"/>
          <p:nvPr/>
        </p:nvSpPr>
        <p:spPr>
          <a:xfrm>
            <a:off x="133153" y="2326997"/>
            <a:ext cx="6094428" cy="369332"/>
          </a:xfrm>
          <a:prstGeom prst="rect">
            <a:avLst/>
          </a:prstGeom>
          <a:noFill/>
        </p:spPr>
        <p:txBody>
          <a:bodyPr wrap="square">
            <a:spAutoFit/>
          </a:bodyPr>
          <a:lstStyle/>
          <a:p>
            <a:pPr algn="l">
              <a:buNone/>
            </a:pPr>
            <a:r>
              <a:rPr lang="en-US" b="1" i="0" dirty="0">
                <a:solidFill>
                  <a:srgbClr val="161616"/>
                </a:solidFill>
                <a:effectLst/>
                <a:latin typeface="Segoe UI" panose="020B0502040204020203" pitchFamily="34" charset="0"/>
              </a:rPr>
              <a:t>How to build a cloud adoption strategy</a:t>
            </a:r>
          </a:p>
        </p:txBody>
      </p:sp>
      <p:sp>
        <p:nvSpPr>
          <p:cNvPr id="13" name="TextBox 12">
            <a:extLst>
              <a:ext uri="{FF2B5EF4-FFF2-40B4-BE49-F238E27FC236}">
                <a16:creationId xmlns:a16="http://schemas.microsoft.com/office/drawing/2014/main" id="{0795CC90-1FCF-28A9-B81D-ECC87A6A22CF}"/>
              </a:ext>
            </a:extLst>
          </p:cNvPr>
          <p:cNvSpPr txBox="1"/>
          <p:nvPr/>
        </p:nvSpPr>
        <p:spPr>
          <a:xfrm>
            <a:off x="159467" y="4423004"/>
            <a:ext cx="11933156" cy="2308324"/>
          </a:xfrm>
          <a:prstGeom prst="rect">
            <a:avLst/>
          </a:prstGeom>
          <a:noFill/>
        </p:spPr>
        <p:txBody>
          <a:bodyPr wrap="square">
            <a:spAutoFit/>
          </a:bodyPr>
          <a:lstStyle/>
          <a:p>
            <a:pPr algn="l">
              <a:spcBef>
                <a:spcPts val="1200"/>
              </a:spcBef>
              <a:spcAft>
                <a:spcPts val="1200"/>
              </a:spcAft>
              <a:buFont typeface="+mj-lt"/>
              <a:buAutoNum type="arabicPeriod"/>
            </a:pPr>
            <a:r>
              <a:rPr lang="en-US" sz="1400" b="1" i="0" dirty="0">
                <a:solidFill>
                  <a:srgbClr val="161616"/>
                </a:solidFill>
                <a:effectLst/>
                <a:latin typeface="Segoe UI" panose="020B0502040204020203" pitchFamily="34" charset="0"/>
              </a:rPr>
              <a:t>Define motivations, mission, and objectives.</a:t>
            </a:r>
            <a:r>
              <a:rPr lang="en-US" sz="1400" b="0" i="0" dirty="0">
                <a:solidFill>
                  <a:srgbClr val="161616"/>
                </a:solidFill>
                <a:effectLst/>
                <a:latin typeface="Segoe UI" panose="020B0502040204020203" pitchFamily="34" charset="0"/>
              </a:rPr>
              <a:t> Establish the business reasons for adopting cloud and the outcomes by which success is measured.</a:t>
            </a:r>
          </a:p>
          <a:p>
            <a:pPr algn="l">
              <a:spcBef>
                <a:spcPts val="1200"/>
              </a:spcBef>
              <a:spcAft>
                <a:spcPts val="1200"/>
              </a:spcAft>
              <a:buFont typeface="+mj-lt"/>
              <a:buAutoNum type="arabicPeriod"/>
            </a:pPr>
            <a:r>
              <a:rPr lang="en-US" sz="1400" b="1" i="0" dirty="0">
                <a:solidFill>
                  <a:srgbClr val="161616"/>
                </a:solidFill>
                <a:effectLst/>
                <a:latin typeface="Segoe UI" panose="020B0502040204020203" pitchFamily="34" charset="0"/>
              </a:rPr>
              <a:t>Define your strategy team.</a:t>
            </a:r>
            <a:r>
              <a:rPr lang="en-US" sz="1400" b="0" i="0" dirty="0">
                <a:solidFill>
                  <a:srgbClr val="161616"/>
                </a:solidFill>
                <a:effectLst/>
                <a:latin typeface="Segoe UI" panose="020B0502040204020203" pitchFamily="34" charset="0"/>
              </a:rPr>
              <a:t> Identify the leaders and stakeholders accountable for setting direction and ensuring execution across the organization.</a:t>
            </a:r>
          </a:p>
          <a:p>
            <a:pPr algn="l">
              <a:spcBef>
                <a:spcPts val="1200"/>
              </a:spcBef>
              <a:spcAft>
                <a:spcPts val="1200"/>
              </a:spcAft>
              <a:buFont typeface="+mj-lt"/>
              <a:buAutoNum type="arabicPeriod"/>
            </a:pPr>
            <a:r>
              <a:rPr lang="en-US" sz="1400" b="1" i="0" dirty="0">
                <a:solidFill>
                  <a:srgbClr val="161616"/>
                </a:solidFill>
                <a:effectLst/>
                <a:latin typeface="Segoe UI" panose="020B0502040204020203" pitchFamily="34" charset="0"/>
              </a:rPr>
              <a:t>Prepare the organization.</a:t>
            </a:r>
            <a:r>
              <a:rPr lang="en-US" sz="1400" b="0" i="0" dirty="0">
                <a:solidFill>
                  <a:srgbClr val="161616"/>
                </a:solidFill>
                <a:effectLst/>
                <a:latin typeface="Segoe UI" panose="020B0502040204020203" pitchFamily="34" charset="0"/>
              </a:rPr>
              <a:t> Secure executive sponsorship, align organizational strategies, evaluate your operating model's fit for cloud, and decide whether to shift toward a product-oriented model.</a:t>
            </a:r>
          </a:p>
          <a:p>
            <a:pPr algn="l">
              <a:spcBef>
                <a:spcPts val="1200"/>
              </a:spcBef>
              <a:spcAft>
                <a:spcPts val="1200"/>
              </a:spcAft>
              <a:buFont typeface="+mj-lt"/>
              <a:buAutoNum type="arabicPeriod"/>
            </a:pPr>
            <a:r>
              <a:rPr lang="en-US" sz="1400" b="1" i="0" dirty="0">
                <a:solidFill>
                  <a:srgbClr val="161616"/>
                </a:solidFill>
                <a:effectLst/>
                <a:latin typeface="Segoe UI" panose="020B0502040204020203" pitchFamily="34" charset="0"/>
              </a:rPr>
              <a:t>Inform your strategy.</a:t>
            </a:r>
            <a:r>
              <a:rPr lang="en-US" sz="1400" b="0" i="0" dirty="0">
                <a:solidFill>
                  <a:srgbClr val="161616"/>
                </a:solidFill>
                <a:effectLst/>
                <a:latin typeface="Segoe UI" panose="020B0502040204020203" pitchFamily="34" charset="0"/>
              </a:rPr>
              <a:t> Apply strategic considerations across the dimensions that shape cloud outcomes: cost efficiency, resiliency, security, and sustainability.</a:t>
            </a:r>
          </a:p>
        </p:txBody>
      </p:sp>
    </p:spTree>
    <p:extLst>
      <p:ext uri="{BB962C8B-B14F-4D97-AF65-F5344CB8AC3E}">
        <p14:creationId xmlns:p14="http://schemas.microsoft.com/office/powerpoint/2010/main" val="3501095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30F6FC-5436-2E4F-DCA4-64A46FA32E51}"/>
              </a:ext>
            </a:extLst>
          </p:cNvPr>
          <p:cNvSpPr txBox="1"/>
          <p:nvPr/>
        </p:nvSpPr>
        <p:spPr>
          <a:xfrm>
            <a:off x="200320" y="286673"/>
            <a:ext cx="6094428" cy="369332"/>
          </a:xfrm>
          <a:prstGeom prst="rect">
            <a:avLst/>
          </a:prstGeom>
          <a:noFill/>
        </p:spPr>
        <p:txBody>
          <a:bodyPr wrap="square">
            <a:spAutoFit/>
          </a:bodyPr>
          <a:lstStyle/>
          <a:p>
            <a:r>
              <a:rPr lang="en-US" dirty="0"/>
              <a:t>Azure CAF – Strategy (Deep Dive)</a:t>
            </a:r>
            <a:endParaRPr lang="en-IN" dirty="0"/>
          </a:p>
        </p:txBody>
      </p:sp>
      <p:sp>
        <p:nvSpPr>
          <p:cNvPr id="9" name="TextBox 8">
            <a:extLst>
              <a:ext uri="{FF2B5EF4-FFF2-40B4-BE49-F238E27FC236}">
                <a16:creationId xmlns:a16="http://schemas.microsoft.com/office/drawing/2014/main" id="{B4678679-8D92-1B47-097C-2F707315160D}"/>
              </a:ext>
            </a:extLst>
          </p:cNvPr>
          <p:cNvSpPr txBox="1"/>
          <p:nvPr/>
        </p:nvSpPr>
        <p:spPr>
          <a:xfrm>
            <a:off x="200320" y="656005"/>
            <a:ext cx="10706492" cy="923330"/>
          </a:xfrm>
          <a:prstGeom prst="rect">
            <a:avLst/>
          </a:prstGeom>
          <a:noFill/>
        </p:spPr>
        <p:txBody>
          <a:bodyPr wrap="square">
            <a:spAutoFit/>
          </a:bodyPr>
          <a:lstStyle/>
          <a:p>
            <a:r>
              <a:rPr lang="en-IN" dirty="0"/>
              <a:t>Strategy phase </a:t>
            </a:r>
            <a:r>
              <a:rPr lang="en-IN" dirty="0" err="1"/>
              <a:t>mein</a:t>
            </a:r>
            <a:r>
              <a:rPr lang="en-IN" dirty="0"/>
              <a:t> company ye decide </a:t>
            </a:r>
            <a:r>
              <a:rPr lang="en-IN" dirty="0" err="1"/>
              <a:t>karti</a:t>
            </a:r>
            <a:r>
              <a:rPr lang="en-IN" dirty="0"/>
              <a:t> </a:t>
            </a:r>
            <a:r>
              <a:rPr lang="en-IN" dirty="0" err="1"/>
              <a:t>hai</a:t>
            </a:r>
            <a:r>
              <a:rPr lang="en-IN" dirty="0"/>
              <a:t> ki Azure </a:t>
            </a:r>
            <a:r>
              <a:rPr lang="en-IN" dirty="0" err="1"/>
              <a:t>mein</a:t>
            </a:r>
            <a:r>
              <a:rPr lang="en-IN" dirty="0"/>
              <a:t> </a:t>
            </a:r>
            <a:r>
              <a:rPr lang="en-IN" dirty="0" err="1"/>
              <a:t>jaana</a:t>
            </a:r>
            <a:r>
              <a:rPr lang="en-IN" dirty="0"/>
              <a:t> hi </a:t>
            </a:r>
            <a:r>
              <a:rPr lang="en-IN" dirty="0" err="1"/>
              <a:t>kyun</a:t>
            </a:r>
            <a:r>
              <a:rPr lang="en-IN" dirty="0"/>
              <a:t> </a:t>
            </a:r>
            <a:r>
              <a:rPr lang="en-IN" dirty="0" err="1"/>
              <a:t>hai</a:t>
            </a:r>
            <a:r>
              <a:rPr lang="en-IN" dirty="0"/>
              <a:t>. WHY Azure ???</a:t>
            </a:r>
          </a:p>
          <a:p>
            <a:r>
              <a:rPr lang="en-US" dirty="0"/>
              <a:t>"</a:t>
            </a:r>
            <a:r>
              <a:rPr lang="en-US" dirty="0">
                <a:highlight>
                  <a:srgbClr val="00FF00"/>
                </a:highlight>
              </a:rPr>
              <a:t>The Strategy phase focuses on defining the business justification, expected outcomes, stakeholders, and financial goals for cloud adoption."</a:t>
            </a:r>
            <a:endParaRPr lang="en-IN" dirty="0">
              <a:highlight>
                <a:srgbClr val="00FF00"/>
              </a:highlight>
            </a:endParaRPr>
          </a:p>
        </p:txBody>
      </p:sp>
      <p:sp>
        <p:nvSpPr>
          <p:cNvPr id="10" name="TextBox 9">
            <a:extLst>
              <a:ext uri="{FF2B5EF4-FFF2-40B4-BE49-F238E27FC236}">
                <a16:creationId xmlns:a16="http://schemas.microsoft.com/office/drawing/2014/main" id="{353D1285-98B0-15C9-1988-9F774DD3AB6A}"/>
              </a:ext>
            </a:extLst>
          </p:cNvPr>
          <p:cNvSpPr txBox="1"/>
          <p:nvPr/>
        </p:nvSpPr>
        <p:spPr>
          <a:xfrm>
            <a:off x="266308" y="1579335"/>
            <a:ext cx="11925692" cy="2862322"/>
          </a:xfrm>
          <a:prstGeom prst="rect">
            <a:avLst/>
          </a:prstGeom>
          <a:noFill/>
        </p:spPr>
        <p:txBody>
          <a:bodyPr wrap="square" rtlCol="0">
            <a:spAutoFit/>
          </a:bodyPr>
          <a:lstStyle/>
          <a:p>
            <a:r>
              <a:rPr lang="en-US" dirty="0"/>
              <a:t>Suppose in a company there is 300 physical server h , 20 Network devices, 50 tb storage, 10 Applications, 100 IT employes h. Sab ki costing h 8CR annually. What management thinks ?? Can we reduce cost by migrating to cloud ??</a:t>
            </a:r>
          </a:p>
          <a:p>
            <a:endParaRPr lang="en-US" dirty="0"/>
          </a:p>
          <a:p>
            <a:r>
              <a:rPr lang="en-US" dirty="0"/>
              <a:t>Example : </a:t>
            </a:r>
          </a:p>
          <a:p>
            <a:pPr marL="342900" indent="-342900">
              <a:buFont typeface="+mj-lt"/>
              <a:buAutoNum type="arabicPeriod"/>
            </a:pPr>
            <a:r>
              <a:rPr lang="en-US" dirty="0"/>
              <a:t>Own data center </a:t>
            </a:r>
            <a:r>
              <a:rPr lang="en-US" dirty="0">
                <a:sym typeface="Wingdings" panose="05000000000000000000" pitchFamily="2" charset="2"/>
              </a:rPr>
              <a:t> Azure (Pay as you go).</a:t>
            </a:r>
          </a:p>
          <a:p>
            <a:pPr marL="342900" indent="-342900">
              <a:buFont typeface="+mj-lt"/>
              <a:buAutoNum type="arabicPeriod"/>
            </a:pPr>
            <a:r>
              <a:rPr lang="en-US" dirty="0">
                <a:sym typeface="Wingdings" panose="05000000000000000000" pitchFamily="2" charset="2"/>
              </a:rPr>
              <a:t>Faster Deployment  earlier server purchase, Delivery, installation, configuration.. On Azure create VM in 5 minutes</a:t>
            </a:r>
          </a:p>
          <a:p>
            <a:pPr marL="342900" indent="-342900">
              <a:buFont typeface="+mj-lt"/>
              <a:buAutoNum type="arabicPeriod"/>
            </a:pPr>
            <a:r>
              <a:rPr lang="en-US" dirty="0">
                <a:sym typeface="Wingdings" panose="05000000000000000000" pitchFamily="2" charset="2"/>
              </a:rPr>
              <a:t>Traffic suddenly increased ?? On Prem its hard to deploy within minutes. In Azure Autoscaling. </a:t>
            </a:r>
          </a:p>
          <a:p>
            <a:pPr marL="342900" indent="-342900">
              <a:buFont typeface="+mj-lt"/>
              <a:buAutoNum type="arabicPeriod"/>
            </a:pPr>
            <a:r>
              <a:rPr lang="en-US" dirty="0">
                <a:sym typeface="Wingdings" panose="05000000000000000000" pitchFamily="2" charset="2"/>
              </a:rPr>
              <a:t>Disaster recovery  On prem only one.. In Azure multiple regions. </a:t>
            </a:r>
          </a:p>
          <a:p>
            <a:pPr marL="342900" indent="-342900">
              <a:buFont typeface="+mj-lt"/>
              <a:buAutoNum type="arabicPeriod"/>
            </a:pPr>
            <a:r>
              <a:rPr lang="en-US" dirty="0">
                <a:sym typeface="Wingdings" panose="05000000000000000000" pitchFamily="2" charset="2"/>
              </a:rPr>
              <a:t>Innovation  Business need AI , ML, Chat Bots.. Azure provide all readymade services.</a:t>
            </a:r>
          </a:p>
          <a:p>
            <a:r>
              <a:rPr lang="en-US" dirty="0"/>
              <a:t> </a:t>
            </a:r>
            <a:endParaRPr lang="en-IN" dirty="0"/>
          </a:p>
        </p:txBody>
      </p:sp>
      <p:sp>
        <p:nvSpPr>
          <p:cNvPr id="13" name="TextBox 12">
            <a:extLst>
              <a:ext uri="{FF2B5EF4-FFF2-40B4-BE49-F238E27FC236}">
                <a16:creationId xmlns:a16="http://schemas.microsoft.com/office/drawing/2014/main" id="{B6327550-C0D2-DE24-5D88-5B0C0A44B328}"/>
              </a:ext>
            </a:extLst>
          </p:cNvPr>
          <p:cNvSpPr txBox="1"/>
          <p:nvPr/>
        </p:nvSpPr>
        <p:spPr>
          <a:xfrm>
            <a:off x="377072" y="4441657"/>
            <a:ext cx="10737130" cy="2308324"/>
          </a:xfrm>
          <a:prstGeom prst="rect">
            <a:avLst/>
          </a:prstGeom>
          <a:noFill/>
        </p:spPr>
        <p:txBody>
          <a:bodyPr wrap="square" rtlCol="0">
            <a:spAutoFit/>
          </a:bodyPr>
          <a:lstStyle/>
          <a:p>
            <a:r>
              <a:rPr lang="en-IN" dirty="0"/>
              <a:t>Stakeholders in Strategy Phase ??</a:t>
            </a:r>
          </a:p>
          <a:p>
            <a:r>
              <a:rPr lang="en-IN" b="1" dirty="0"/>
              <a:t>CEO (Chief executive officer)</a:t>
            </a:r>
            <a:r>
              <a:rPr lang="en-IN" b="1" dirty="0">
                <a:sym typeface="Wingdings" panose="05000000000000000000" pitchFamily="2" charset="2"/>
              </a:rPr>
              <a:t></a:t>
            </a:r>
            <a:r>
              <a:rPr lang="en-IN" dirty="0"/>
              <a:t>Business Growth.</a:t>
            </a:r>
          </a:p>
          <a:p>
            <a:r>
              <a:rPr lang="en-IN" dirty="0"/>
              <a:t>CFO (Chief Finance Officer) </a:t>
            </a:r>
            <a:r>
              <a:rPr lang="en-IN" dirty="0">
                <a:sym typeface="Wingdings" panose="05000000000000000000" pitchFamily="2" charset="2"/>
              </a:rPr>
              <a:t> Check ROI</a:t>
            </a:r>
          </a:p>
          <a:p>
            <a:r>
              <a:rPr lang="en-IN" dirty="0">
                <a:sym typeface="Wingdings" panose="05000000000000000000" pitchFamily="2" charset="2"/>
              </a:rPr>
              <a:t>CIO (Chief information officer)  overall IT strategy </a:t>
            </a:r>
          </a:p>
          <a:p>
            <a:r>
              <a:rPr lang="en-IN" dirty="0"/>
              <a:t>CTO (Chief Technical officer) </a:t>
            </a:r>
            <a:r>
              <a:rPr lang="en-IN" dirty="0">
                <a:sym typeface="Wingdings" panose="05000000000000000000" pitchFamily="2" charset="2"/>
              </a:rPr>
              <a:t> </a:t>
            </a:r>
            <a:r>
              <a:rPr lang="en-IN" dirty="0"/>
              <a:t>Technology selection.</a:t>
            </a:r>
          </a:p>
          <a:p>
            <a:r>
              <a:rPr lang="en-IN" dirty="0"/>
              <a:t>Security Team </a:t>
            </a:r>
            <a:r>
              <a:rPr lang="en-IN" dirty="0">
                <a:sym typeface="Wingdings" panose="05000000000000000000" pitchFamily="2" charset="2"/>
              </a:rPr>
              <a:t> Data secure </a:t>
            </a:r>
            <a:r>
              <a:rPr lang="en-IN" dirty="0" err="1">
                <a:sym typeface="Wingdings" panose="05000000000000000000" pitchFamily="2" charset="2"/>
              </a:rPr>
              <a:t>rahega</a:t>
            </a:r>
            <a:r>
              <a:rPr lang="en-IN" dirty="0">
                <a:sym typeface="Wingdings" panose="05000000000000000000" pitchFamily="2" charset="2"/>
              </a:rPr>
              <a:t>?</a:t>
            </a:r>
          </a:p>
          <a:p>
            <a:r>
              <a:rPr lang="en-IN" dirty="0"/>
              <a:t>Compliance Team </a:t>
            </a:r>
            <a:r>
              <a:rPr lang="en-IN" dirty="0">
                <a:sym typeface="Wingdings" panose="05000000000000000000" pitchFamily="2" charset="2"/>
              </a:rPr>
              <a:t> Regulations follow hongi?</a:t>
            </a:r>
            <a:endParaRPr lang="en-IN" dirty="0"/>
          </a:p>
          <a:p>
            <a:endParaRPr lang="en-IN" dirty="0"/>
          </a:p>
        </p:txBody>
      </p:sp>
    </p:spTree>
    <p:extLst>
      <p:ext uri="{BB962C8B-B14F-4D97-AF65-F5344CB8AC3E}">
        <p14:creationId xmlns:p14="http://schemas.microsoft.com/office/powerpoint/2010/main" val="2470792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59C4C3-506A-5627-658B-8AAC539BF10D}"/>
              </a:ext>
            </a:extLst>
          </p:cNvPr>
          <p:cNvSpPr txBox="1"/>
          <p:nvPr/>
        </p:nvSpPr>
        <p:spPr>
          <a:xfrm>
            <a:off x="520832" y="495528"/>
            <a:ext cx="6094428" cy="2308324"/>
          </a:xfrm>
          <a:prstGeom prst="rect">
            <a:avLst/>
          </a:prstGeom>
          <a:noFill/>
        </p:spPr>
        <p:txBody>
          <a:bodyPr wrap="square">
            <a:spAutoFit/>
          </a:bodyPr>
          <a:lstStyle/>
          <a:p>
            <a:pPr>
              <a:buNone/>
            </a:pPr>
            <a:r>
              <a:rPr lang="en-IN" b="1" dirty="0"/>
              <a:t>Risk Identification</a:t>
            </a:r>
          </a:p>
          <a:p>
            <a:pPr>
              <a:buNone/>
            </a:pPr>
            <a:r>
              <a:rPr lang="en-IN" dirty="0"/>
              <a:t>Strategy phase </a:t>
            </a:r>
            <a:r>
              <a:rPr lang="en-IN" dirty="0" err="1"/>
              <a:t>mein</a:t>
            </a:r>
            <a:r>
              <a:rPr lang="en-IN" dirty="0"/>
              <a:t> risks </a:t>
            </a:r>
            <a:r>
              <a:rPr lang="en-IN" dirty="0" err="1"/>
              <a:t>bhi</a:t>
            </a:r>
            <a:r>
              <a:rPr lang="en-IN" dirty="0"/>
              <a:t> identify </a:t>
            </a:r>
            <a:r>
              <a:rPr lang="en-IN" dirty="0" err="1"/>
              <a:t>kiye</a:t>
            </a:r>
            <a:r>
              <a:rPr lang="en-IN" dirty="0"/>
              <a:t> </a:t>
            </a:r>
            <a:r>
              <a:rPr lang="en-IN" dirty="0" err="1"/>
              <a:t>jaate</a:t>
            </a:r>
            <a:r>
              <a:rPr lang="en-IN" dirty="0"/>
              <a:t> hain.</a:t>
            </a:r>
          </a:p>
          <a:p>
            <a:pPr>
              <a:buNone/>
            </a:pPr>
            <a:r>
              <a:rPr lang="en-IN" dirty="0"/>
              <a:t>Examples:</a:t>
            </a:r>
          </a:p>
          <a:p>
            <a:pPr>
              <a:buFont typeface="Arial" panose="020B0604020202020204" pitchFamily="34" charset="0"/>
              <a:buChar char="•"/>
            </a:pPr>
            <a:r>
              <a:rPr lang="en-IN" dirty="0"/>
              <a:t>Sensitive customer data </a:t>
            </a:r>
          </a:p>
          <a:p>
            <a:pPr>
              <a:buFont typeface="Arial" panose="020B0604020202020204" pitchFamily="34" charset="0"/>
              <a:buChar char="•"/>
            </a:pPr>
            <a:r>
              <a:rPr lang="en-IN" dirty="0"/>
              <a:t>Regulatory compliance </a:t>
            </a:r>
          </a:p>
          <a:p>
            <a:pPr>
              <a:buFont typeface="Arial" panose="020B0604020202020204" pitchFamily="34" charset="0"/>
              <a:buChar char="•"/>
            </a:pPr>
            <a:r>
              <a:rPr lang="en-IN" dirty="0"/>
              <a:t>Application downtime </a:t>
            </a:r>
          </a:p>
          <a:p>
            <a:pPr>
              <a:buFont typeface="Arial" panose="020B0604020202020204" pitchFamily="34" charset="0"/>
              <a:buChar char="•"/>
            </a:pPr>
            <a:r>
              <a:rPr lang="en-IN" dirty="0"/>
              <a:t>Employee training </a:t>
            </a:r>
          </a:p>
          <a:p>
            <a:pPr>
              <a:buFont typeface="Arial" panose="020B0604020202020204" pitchFamily="34" charset="0"/>
              <a:buChar char="•"/>
            </a:pPr>
            <a:r>
              <a:rPr lang="en-IN" dirty="0"/>
              <a:t>Vendor lock-in</a:t>
            </a:r>
          </a:p>
        </p:txBody>
      </p:sp>
      <p:sp>
        <p:nvSpPr>
          <p:cNvPr id="5" name="TextBox 4">
            <a:extLst>
              <a:ext uri="{FF2B5EF4-FFF2-40B4-BE49-F238E27FC236}">
                <a16:creationId xmlns:a16="http://schemas.microsoft.com/office/drawing/2014/main" id="{1F07C247-593E-AF81-6DAB-C280CECA93B8}"/>
              </a:ext>
            </a:extLst>
          </p:cNvPr>
          <p:cNvSpPr txBox="1"/>
          <p:nvPr/>
        </p:nvSpPr>
        <p:spPr>
          <a:xfrm>
            <a:off x="341722" y="3282240"/>
            <a:ext cx="6094428" cy="2862322"/>
          </a:xfrm>
          <a:prstGeom prst="rect">
            <a:avLst/>
          </a:prstGeom>
          <a:noFill/>
        </p:spPr>
        <p:txBody>
          <a:bodyPr wrap="square">
            <a:spAutoFit/>
          </a:bodyPr>
          <a:lstStyle/>
          <a:p>
            <a:pPr>
              <a:buNone/>
            </a:pPr>
            <a:r>
              <a:rPr lang="en-IN" b="1" dirty="0"/>
              <a:t>Output of Strategy Phase</a:t>
            </a:r>
          </a:p>
          <a:p>
            <a:pPr>
              <a:buNone/>
            </a:pPr>
            <a:r>
              <a:rPr lang="en-IN" dirty="0"/>
              <a:t>Strategy complete hone </a:t>
            </a:r>
            <a:r>
              <a:rPr lang="en-IN" dirty="0" err="1"/>
              <a:t>ke</a:t>
            </a:r>
            <a:r>
              <a:rPr lang="en-IN" dirty="0"/>
              <a:t> </a:t>
            </a:r>
            <a:r>
              <a:rPr lang="en-IN" dirty="0" err="1"/>
              <a:t>baad</a:t>
            </a:r>
            <a:r>
              <a:rPr lang="en-IN" dirty="0"/>
              <a:t> company </a:t>
            </a:r>
            <a:r>
              <a:rPr lang="en-IN" dirty="0" err="1"/>
              <a:t>ke</a:t>
            </a:r>
            <a:r>
              <a:rPr lang="en-IN" dirty="0"/>
              <a:t> </a:t>
            </a:r>
            <a:r>
              <a:rPr lang="en-IN" dirty="0" err="1"/>
              <a:t>paas</a:t>
            </a:r>
            <a:r>
              <a:rPr lang="en-IN" dirty="0"/>
              <a:t> generally ye deliverables </a:t>
            </a:r>
            <a:r>
              <a:rPr lang="en-IN" dirty="0" err="1"/>
              <a:t>hote</a:t>
            </a:r>
            <a:r>
              <a:rPr lang="en-IN" dirty="0"/>
              <a:t> hain:</a:t>
            </a:r>
          </a:p>
          <a:p>
            <a:pPr>
              <a:buFont typeface="Arial" panose="020B0604020202020204" pitchFamily="34" charset="0"/>
              <a:buChar char="•"/>
            </a:pPr>
            <a:r>
              <a:rPr lang="en-IN" dirty="0"/>
              <a:t>✅ Business Justification </a:t>
            </a:r>
          </a:p>
          <a:p>
            <a:pPr>
              <a:buFont typeface="Arial" panose="020B0604020202020204" pitchFamily="34" charset="0"/>
              <a:buChar char="•"/>
            </a:pPr>
            <a:r>
              <a:rPr lang="en-IN" dirty="0"/>
              <a:t>✅ Cloud Vision </a:t>
            </a:r>
          </a:p>
          <a:p>
            <a:pPr>
              <a:buFont typeface="Arial" panose="020B0604020202020204" pitchFamily="34" charset="0"/>
              <a:buChar char="•"/>
            </a:pPr>
            <a:r>
              <a:rPr lang="en-IN" dirty="0"/>
              <a:t>✅ Stakeholders List </a:t>
            </a:r>
          </a:p>
          <a:p>
            <a:pPr>
              <a:buFont typeface="Arial" panose="020B0604020202020204" pitchFamily="34" charset="0"/>
              <a:buChar char="•"/>
            </a:pPr>
            <a:r>
              <a:rPr lang="en-IN" dirty="0"/>
              <a:t>✅ Success Metrics (KPIs) </a:t>
            </a:r>
          </a:p>
          <a:p>
            <a:pPr>
              <a:buFont typeface="Arial" panose="020B0604020202020204" pitchFamily="34" charset="0"/>
              <a:buChar char="•"/>
            </a:pPr>
            <a:r>
              <a:rPr lang="en-IN" dirty="0"/>
              <a:t>✅ Budget Approval </a:t>
            </a:r>
          </a:p>
          <a:p>
            <a:pPr>
              <a:buFont typeface="Arial" panose="020B0604020202020204" pitchFamily="34" charset="0"/>
              <a:buChar char="•"/>
            </a:pPr>
            <a:r>
              <a:rPr lang="en-IN" dirty="0"/>
              <a:t>✅ High-Level Risk Assessment </a:t>
            </a:r>
          </a:p>
          <a:p>
            <a:pPr>
              <a:buFont typeface="Arial" panose="020B0604020202020204" pitchFamily="34" charset="0"/>
              <a:buChar char="•"/>
            </a:pPr>
            <a:r>
              <a:rPr lang="en-IN" dirty="0"/>
              <a:t>✅ Executive Sponsorship</a:t>
            </a:r>
          </a:p>
        </p:txBody>
      </p:sp>
    </p:spTree>
    <p:extLst>
      <p:ext uri="{BB962C8B-B14F-4D97-AF65-F5344CB8AC3E}">
        <p14:creationId xmlns:p14="http://schemas.microsoft.com/office/powerpoint/2010/main" val="2358014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3400D6-EE63-0945-2C4F-9725AED4A027}"/>
              </a:ext>
            </a:extLst>
          </p:cNvPr>
          <p:cNvSpPr txBox="1"/>
          <p:nvPr/>
        </p:nvSpPr>
        <p:spPr>
          <a:xfrm>
            <a:off x="209746" y="204735"/>
            <a:ext cx="10131457" cy="954107"/>
          </a:xfrm>
          <a:prstGeom prst="rect">
            <a:avLst/>
          </a:prstGeom>
          <a:solidFill>
            <a:schemeClr val="accent4">
              <a:lumMod val="40000"/>
              <a:lumOff val="60000"/>
            </a:schemeClr>
          </a:solidFill>
        </p:spPr>
        <p:txBody>
          <a:bodyPr wrap="square">
            <a:spAutoFit/>
          </a:bodyPr>
          <a:lstStyle/>
          <a:p>
            <a:pPr>
              <a:buNone/>
            </a:pPr>
            <a:r>
              <a:rPr lang="en-US" sz="2800" b="1" dirty="0"/>
              <a:t>Azure Cloud Adoption Framework (CAF)</a:t>
            </a:r>
          </a:p>
          <a:p>
            <a:pPr>
              <a:buNone/>
            </a:pPr>
            <a:r>
              <a:rPr lang="en-US" sz="2800" b="1" dirty="0"/>
              <a:t>Phase 2 – Plan</a:t>
            </a:r>
          </a:p>
        </p:txBody>
      </p:sp>
      <p:sp>
        <p:nvSpPr>
          <p:cNvPr id="5" name="TextBox 4">
            <a:extLst>
              <a:ext uri="{FF2B5EF4-FFF2-40B4-BE49-F238E27FC236}">
                <a16:creationId xmlns:a16="http://schemas.microsoft.com/office/drawing/2014/main" id="{3F1DA270-1892-4473-8607-74068A3FDB5B}"/>
              </a:ext>
            </a:extLst>
          </p:cNvPr>
          <p:cNvSpPr txBox="1"/>
          <p:nvPr/>
        </p:nvSpPr>
        <p:spPr>
          <a:xfrm>
            <a:off x="115479" y="1281951"/>
            <a:ext cx="11507771" cy="307777"/>
          </a:xfrm>
          <a:prstGeom prst="rect">
            <a:avLst/>
          </a:prstGeom>
          <a:noFill/>
        </p:spPr>
        <p:txBody>
          <a:bodyPr wrap="square">
            <a:spAutoFit/>
          </a:bodyPr>
          <a:lstStyle/>
          <a:p>
            <a:r>
              <a:rPr lang="en-US" sz="1400" dirty="0"/>
              <a:t>Plan phase focuses on identifying what will be migrated to Azure, when it will be </a:t>
            </a:r>
            <a:r>
              <a:rPr lang="en-US" sz="1400" dirty="0" err="1"/>
              <a:t>be</a:t>
            </a:r>
            <a:r>
              <a:rPr lang="en-US" sz="1400" dirty="0"/>
              <a:t> migrated, and in what order.</a:t>
            </a:r>
            <a:endParaRPr lang="en-IN" sz="1400" dirty="0"/>
          </a:p>
        </p:txBody>
      </p:sp>
      <p:sp>
        <p:nvSpPr>
          <p:cNvPr id="7" name="TextBox 6">
            <a:extLst>
              <a:ext uri="{FF2B5EF4-FFF2-40B4-BE49-F238E27FC236}">
                <a16:creationId xmlns:a16="http://schemas.microsoft.com/office/drawing/2014/main" id="{B56E40B3-A809-7D47-AF14-09DEB2DFEE1A}"/>
              </a:ext>
            </a:extLst>
          </p:cNvPr>
          <p:cNvSpPr txBox="1"/>
          <p:nvPr/>
        </p:nvSpPr>
        <p:spPr>
          <a:xfrm>
            <a:off x="115479" y="1692759"/>
            <a:ext cx="11621678" cy="738664"/>
          </a:xfrm>
          <a:prstGeom prst="rect">
            <a:avLst/>
          </a:prstGeom>
          <a:noFill/>
        </p:spPr>
        <p:txBody>
          <a:bodyPr wrap="square">
            <a:spAutoFit/>
          </a:bodyPr>
          <a:lstStyle/>
          <a:p>
            <a:r>
              <a:rPr lang="en-US" sz="1400" dirty="0"/>
              <a:t>"The Plan phase involves assessing the existing IT environment, prioritizing workloads, identifying dependencies, estimating timelines, and creating a structured cloud migration plan.“</a:t>
            </a:r>
          </a:p>
          <a:p>
            <a:r>
              <a:rPr lang="en-US" sz="1400" dirty="0"/>
              <a:t> Startups often begin cloud-native, while enterprises must assess and migrate existing workloads. </a:t>
            </a:r>
            <a:endParaRPr lang="en-IN" sz="1400" dirty="0"/>
          </a:p>
        </p:txBody>
      </p:sp>
      <p:sp>
        <p:nvSpPr>
          <p:cNvPr id="9" name="TextBox 8">
            <a:extLst>
              <a:ext uri="{FF2B5EF4-FFF2-40B4-BE49-F238E27FC236}">
                <a16:creationId xmlns:a16="http://schemas.microsoft.com/office/drawing/2014/main" id="{403BD120-1E44-87C0-CAD9-7B2011C7BD0B}"/>
              </a:ext>
            </a:extLst>
          </p:cNvPr>
          <p:cNvSpPr txBox="1"/>
          <p:nvPr/>
        </p:nvSpPr>
        <p:spPr>
          <a:xfrm>
            <a:off x="115479" y="2478390"/>
            <a:ext cx="11413503" cy="1815882"/>
          </a:xfrm>
          <a:prstGeom prst="rect">
            <a:avLst/>
          </a:prstGeom>
          <a:noFill/>
        </p:spPr>
        <p:txBody>
          <a:bodyPr wrap="square">
            <a:spAutoFit/>
          </a:bodyPr>
          <a:lstStyle/>
          <a:p>
            <a:pPr>
              <a:buNone/>
            </a:pPr>
            <a:r>
              <a:rPr lang="en-US" sz="1400" b="1" dirty="0"/>
              <a:t>Objective of the Plan Phase</a:t>
            </a:r>
          </a:p>
          <a:p>
            <a:pPr>
              <a:buNone/>
            </a:pPr>
            <a:r>
              <a:rPr lang="en-US" sz="1400" dirty="0"/>
              <a:t>The primary objectives are:</a:t>
            </a:r>
          </a:p>
          <a:p>
            <a:pPr>
              <a:buFont typeface="Arial" panose="020B0604020202020204" pitchFamily="34" charset="0"/>
              <a:buChar char="•"/>
            </a:pPr>
            <a:r>
              <a:rPr lang="en-US" sz="1400" dirty="0"/>
              <a:t>Understand the current IT environment. </a:t>
            </a:r>
          </a:p>
          <a:p>
            <a:pPr>
              <a:buFont typeface="Arial" panose="020B0604020202020204" pitchFamily="34" charset="0"/>
              <a:buChar char="•"/>
            </a:pPr>
            <a:r>
              <a:rPr lang="en-US" sz="1400" dirty="0"/>
              <a:t>Identify workloads that will move to Azure. </a:t>
            </a:r>
          </a:p>
          <a:p>
            <a:pPr>
              <a:buFont typeface="Arial" panose="020B0604020202020204" pitchFamily="34" charset="0"/>
              <a:buChar char="•"/>
            </a:pPr>
            <a:r>
              <a:rPr lang="en-US" sz="1400" dirty="0"/>
              <a:t>Prioritize applications for migration. </a:t>
            </a:r>
          </a:p>
          <a:p>
            <a:pPr>
              <a:buFont typeface="Arial" panose="020B0604020202020204" pitchFamily="34" charset="0"/>
              <a:buChar char="•"/>
            </a:pPr>
            <a:r>
              <a:rPr lang="en-US" sz="1400" dirty="0"/>
              <a:t>Analyze application dependencies. </a:t>
            </a:r>
          </a:p>
          <a:p>
            <a:pPr>
              <a:buFont typeface="Arial" panose="020B0604020202020204" pitchFamily="34" charset="0"/>
              <a:buChar char="•"/>
            </a:pPr>
            <a:r>
              <a:rPr lang="en-US" sz="1400" dirty="0"/>
              <a:t>Estimate effort, timeline, and cost. </a:t>
            </a:r>
          </a:p>
          <a:p>
            <a:pPr>
              <a:buFont typeface="Arial" panose="020B0604020202020204" pitchFamily="34" charset="0"/>
              <a:buChar char="•"/>
            </a:pPr>
            <a:r>
              <a:rPr lang="en-US" sz="1400" dirty="0"/>
              <a:t>Create a cloud adoption roadmap.</a:t>
            </a:r>
          </a:p>
        </p:txBody>
      </p:sp>
      <p:graphicFrame>
        <p:nvGraphicFramePr>
          <p:cNvPr id="10" name="Table 9">
            <a:extLst>
              <a:ext uri="{FF2B5EF4-FFF2-40B4-BE49-F238E27FC236}">
                <a16:creationId xmlns:a16="http://schemas.microsoft.com/office/drawing/2014/main" id="{AFC75425-EE5A-A8E3-F6E8-7DB11A2B8DFD}"/>
              </a:ext>
            </a:extLst>
          </p:cNvPr>
          <p:cNvGraphicFramePr>
            <a:graphicFrameLocks noGrp="1"/>
          </p:cNvGraphicFramePr>
          <p:nvPr>
            <p:extLst>
              <p:ext uri="{D42A27DB-BD31-4B8C-83A1-F6EECF244321}">
                <p14:modId xmlns:p14="http://schemas.microsoft.com/office/powerpoint/2010/main" val="3792392000"/>
              </p:ext>
            </p:extLst>
          </p:nvPr>
        </p:nvGraphicFramePr>
        <p:xfrm>
          <a:off x="285161" y="4500333"/>
          <a:ext cx="10515600" cy="1828800"/>
        </p:xfrm>
        <a:graphic>
          <a:graphicData uri="http://schemas.openxmlformats.org/drawingml/2006/table">
            <a:tbl>
              <a:tblPr>
                <a:tableStyleId>{306799F8-075E-4A3A-A7F6-7FBC6576F1A4}</a:tableStyleId>
              </a:tblPr>
              <a:tblGrid>
                <a:gridCol w="5257800">
                  <a:extLst>
                    <a:ext uri="{9D8B030D-6E8A-4147-A177-3AD203B41FA5}">
                      <a16:colId xmlns:a16="http://schemas.microsoft.com/office/drawing/2014/main" val="2988974576"/>
                    </a:ext>
                  </a:extLst>
                </a:gridCol>
                <a:gridCol w="5257800">
                  <a:extLst>
                    <a:ext uri="{9D8B030D-6E8A-4147-A177-3AD203B41FA5}">
                      <a16:colId xmlns:a16="http://schemas.microsoft.com/office/drawing/2014/main" val="2330118163"/>
                    </a:ext>
                  </a:extLst>
                </a:gridCol>
              </a:tblGrid>
              <a:tr h="0">
                <a:tc>
                  <a:txBody>
                    <a:bodyPr/>
                    <a:lstStyle/>
                    <a:p>
                      <a:pPr algn="ctr">
                        <a:buNone/>
                      </a:pPr>
                      <a:r>
                        <a:rPr lang="en-IN" dirty="0"/>
                        <a:t>Strategy</a:t>
                      </a:r>
                    </a:p>
                  </a:txBody>
                  <a:tcPr anchor="ctr"/>
                </a:tc>
                <a:tc>
                  <a:txBody>
                    <a:bodyPr/>
                    <a:lstStyle/>
                    <a:p>
                      <a:pPr algn="ctr">
                        <a:buNone/>
                      </a:pPr>
                      <a:r>
                        <a:rPr lang="en-IN" dirty="0"/>
                        <a:t>Plan</a:t>
                      </a:r>
                    </a:p>
                  </a:txBody>
                  <a:tcPr anchor="ctr"/>
                </a:tc>
                <a:extLst>
                  <a:ext uri="{0D108BD9-81ED-4DB2-BD59-A6C34878D82A}">
                    <a16:rowId xmlns:a16="http://schemas.microsoft.com/office/drawing/2014/main" val="284081490"/>
                  </a:ext>
                </a:extLst>
              </a:tr>
              <a:tr h="0">
                <a:tc>
                  <a:txBody>
                    <a:bodyPr/>
                    <a:lstStyle/>
                    <a:p>
                      <a:pPr algn="ctr">
                        <a:buNone/>
                      </a:pPr>
                      <a:r>
                        <a:rPr lang="en-US"/>
                        <a:t>Why are we moving to Azure?</a:t>
                      </a:r>
                    </a:p>
                  </a:txBody>
                  <a:tcPr anchor="ctr"/>
                </a:tc>
                <a:tc>
                  <a:txBody>
                    <a:bodyPr/>
                    <a:lstStyle/>
                    <a:p>
                      <a:pPr algn="ctr">
                        <a:buNone/>
                      </a:pPr>
                      <a:r>
                        <a:rPr lang="en-IN" dirty="0"/>
                        <a:t>What should be migrated?</a:t>
                      </a:r>
                    </a:p>
                  </a:txBody>
                  <a:tcPr anchor="ctr"/>
                </a:tc>
                <a:extLst>
                  <a:ext uri="{0D108BD9-81ED-4DB2-BD59-A6C34878D82A}">
                    <a16:rowId xmlns:a16="http://schemas.microsoft.com/office/drawing/2014/main" val="1990653177"/>
                  </a:ext>
                </a:extLst>
              </a:tr>
              <a:tr h="0">
                <a:tc>
                  <a:txBody>
                    <a:bodyPr/>
                    <a:lstStyle/>
                    <a:p>
                      <a:pPr algn="ctr">
                        <a:buNone/>
                      </a:pPr>
                      <a:r>
                        <a:rPr lang="en-IN" dirty="0"/>
                        <a:t>Business Goals</a:t>
                      </a:r>
                    </a:p>
                  </a:txBody>
                  <a:tcPr anchor="ctr"/>
                </a:tc>
                <a:tc>
                  <a:txBody>
                    <a:bodyPr/>
                    <a:lstStyle/>
                    <a:p>
                      <a:pPr algn="ctr">
                        <a:buNone/>
                      </a:pPr>
                      <a:r>
                        <a:rPr lang="en-IN" dirty="0"/>
                        <a:t>Technical Assessment</a:t>
                      </a:r>
                    </a:p>
                  </a:txBody>
                  <a:tcPr anchor="ctr"/>
                </a:tc>
                <a:extLst>
                  <a:ext uri="{0D108BD9-81ED-4DB2-BD59-A6C34878D82A}">
                    <a16:rowId xmlns:a16="http://schemas.microsoft.com/office/drawing/2014/main" val="1170978952"/>
                  </a:ext>
                </a:extLst>
              </a:tr>
              <a:tr h="0">
                <a:tc>
                  <a:txBody>
                    <a:bodyPr/>
                    <a:lstStyle/>
                    <a:p>
                      <a:pPr algn="ctr">
                        <a:buNone/>
                      </a:pPr>
                      <a:r>
                        <a:rPr lang="en-IN"/>
                        <a:t>ROI</a:t>
                      </a:r>
                    </a:p>
                  </a:txBody>
                  <a:tcPr anchor="ctr"/>
                </a:tc>
                <a:tc>
                  <a:txBody>
                    <a:bodyPr/>
                    <a:lstStyle/>
                    <a:p>
                      <a:pPr algn="ctr">
                        <a:buNone/>
                      </a:pPr>
                      <a:r>
                        <a:rPr lang="en-IN"/>
                        <a:t>Migration Roadmap</a:t>
                      </a:r>
                    </a:p>
                  </a:txBody>
                  <a:tcPr anchor="ctr"/>
                </a:tc>
                <a:extLst>
                  <a:ext uri="{0D108BD9-81ED-4DB2-BD59-A6C34878D82A}">
                    <a16:rowId xmlns:a16="http://schemas.microsoft.com/office/drawing/2014/main" val="2768941151"/>
                  </a:ext>
                </a:extLst>
              </a:tr>
              <a:tr h="0">
                <a:tc>
                  <a:txBody>
                    <a:bodyPr/>
                    <a:lstStyle/>
                    <a:p>
                      <a:pPr algn="ctr">
                        <a:buNone/>
                      </a:pPr>
                      <a:r>
                        <a:rPr lang="en-IN" dirty="0"/>
                        <a:t>Executive Approval</a:t>
                      </a:r>
                    </a:p>
                  </a:txBody>
                  <a:tcPr anchor="ctr"/>
                </a:tc>
                <a:tc>
                  <a:txBody>
                    <a:bodyPr/>
                    <a:lstStyle/>
                    <a:p>
                      <a:pPr algn="ctr">
                        <a:buNone/>
                      </a:pPr>
                      <a:r>
                        <a:rPr lang="en-IN" dirty="0"/>
                        <a:t>Workload Prioritization</a:t>
                      </a:r>
                    </a:p>
                  </a:txBody>
                  <a:tcPr anchor="ctr"/>
                </a:tc>
                <a:extLst>
                  <a:ext uri="{0D108BD9-81ED-4DB2-BD59-A6C34878D82A}">
                    <a16:rowId xmlns:a16="http://schemas.microsoft.com/office/drawing/2014/main" val="2432193360"/>
                  </a:ext>
                </a:extLst>
              </a:tr>
            </a:tbl>
          </a:graphicData>
        </a:graphic>
      </p:graphicFrame>
    </p:spTree>
    <p:extLst>
      <p:ext uri="{BB962C8B-B14F-4D97-AF65-F5344CB8AC3E}">
        <p14:creationId xmlns:p14="http://schemas.microsoft.com/office/powerpoint/2010/main" val="721234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A736-BAB7-3B6B-6906-7554D84052BE}"/>
              </a:ext>
            </a:extLst>
          </p:cNvPr>
          <p:cNvSpPr>
            <a:spLocks noGrp="1"/>
          </p:cNvSpPr>
          <p:nvPr>
            <p:ph type="title"/>
          </p:nvPr>
        </p:nvSpPr>
        <p:spPr/>
        <p:txBody>
          <a:bodyPr>
            <a:normAutofit fontScale="90000"/>
          </a:bodyPr>
          <a:lstStyle/>
          <a:p>
            <a:r>
              <a:rPr lang="en-US" b="1" dirty="0"/>
              <a:t>Map your cloud adoption journey</a:t>
            </a:r>
            <a:br>
              <a:rPr lang="en-US" b="1" dirty="0"/>
            </a:br>
            <a:br>
              <a:rPr lang="en-US" dirty="0"/>
            </a:br>
            <a:endParaRPr lang="en-IN" dirty="0"/>
          </a:p>
        </p:txBody>
      </p:sp>
      <p:pic>
        <p:nvPicPr>
          <p:cNvPr id="6" name="Content Placeholder 5">
            <a:extLst>
              <a:ext uri="{FF2B5EF4-FFF2-40B4-BE49-F238E27FC236}">
                <a16:creationId xmlns:a16="http://schemas.microsoft.com/office/drawing/2014/main" id="{1B82B516-4E0D-DF31-D6FF-BDC61EE78AC0}"/>
              </a:ext>
            </a:extLst>
          </p:cNvPr>
          <p:cNvPicPr>
            <a:picLocks noGrp="1" noChangeAspect="1"/>
          </p:cNvPicPr>
          <p:nvPr>
            <p:ph idx="1"/>
          </p:nvPr>
        </p:nvPicPr>
        <p:blipFill>
          <a:blip r:embed="rId2"/>
          <a:stretch>
            <a:fillRect/>
          </a:stretch>
        </p:blipFill>
        <p:spPr>
          <a:xfrm>
            <a:off x="5542961" y="369929"/>
            <a:ext cx="5809251" cy="5491121"/>
          </a:xfrm>
          <a:prstGeom prst="rect">
            <a:avLst/>
          </a:prstGeom>
        </p:spPr>
      </p:pic>
      <p:sp>
        <p:nvSpPr>
          <p:cNvPr id="4" name="Text Placeholder 3">
            <a:extLst>
              <a:ext uri="{FF2B5EF4-FFF2-40B4-BE49-F238E27FC236}">
                <a16:creationId xmlns:a16="http://schemas.microsoft.com/office/drawing/2014/main" id="{30D2E11A-8079-5300-E70B-BE7D34BF892F}"/>
              </a:ext>
            </a:extLst>
          </p:cNvPr>
          <p:cNvSpPr>
            <a:spLocks noGrp="1"/>
          </p:cNvSpPr>
          <p:nvPr>
            <p:ph type="body" sz="half" idx="2"/>
          </p:nvPr>
        </p:nvSpPr>
        <p:spPr/>
        <p:txBody>
          <a:bodyPr/>
          <a:lstStyle/>
          <a:p>
            <a:r>
              <a:rPr lang="en-US" b="1" dirty="0"/>
              <a:t>Build cloud-native.</a:t>
            </a:r>
            <a:r>
              <a:rPr lang="en-US" dirty="0"/>
              <a:t> If you're a startup with no existing workloads, you build your business cloud-native from the ground up. This approach fosters rapid development using cloud-native design. You follow a portion of CAF Plan: prepare, plan, estimate, document. </a:t>
            </a:r>
          </a:p>
          <a:p>
            <a:r>
              <a:rPr lang="en-US" b="1" dirty="0"/>
              <a:t>Migrate existing workloads.</a:t>
            </a:r>
            <a:r>
              <a:rPr lang="en-US" dirty="0"/>
              <a:t> Enterprises must evaluate their existing IT estate and determine the best migration strategy for each workload based on business drivers. You follow all of CAF Plan: prepare, plan, discovery, select, assess, estimate, document. </a:t>
            </a:r>
            <a:endParaRPr lang="en-IN" dirty="0"/>
          </a:p>
        </p:txBody>
      </p:sp>
    </p:spTree>
    <p:extLst>
      <p:ext uri="{BB962C8B-B14F-4D97-AF65-F5344CB8AC3E}">
        <p14:creationId xmlns:p14="http://schemas.microsoft.com/office/powerpoint/2010/main" val="2431742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220A86-D86F-CB74-B42B-4EA1D17E7DB5}"/>
              </a:ext>
            </a:extLst>
          </p:cNvPr>
          <p:cNvSpPr txBox="1"/>
          <p:nvPr/>
        </p:nvSpPr>
        <p:spPr>
          <a:xfrm>
            <a:off x="256880" y="267820"/>
            <a:ext cx="6094428" cy="369332"/>
          </a:xfrm>
          <a:prstGeom prst="rect">
            <a:avLst/>
          </a:prstGeom>
          <a:noFill/>
        </p:spPr>
        <p:txBody>
          <a:bodyPr wrap="square">
            <a:spAutoFit/>
          </a:bodyPr>
          <a:lstStyle/>
          <a:p>
            <a:r>
              <a:rPr lang="en-US" b="1" dirty="0"/>
              <a:t>Choose a cloud operating model</a:t>
            </a:r>
          </a:p>
        </p:txBody>
      </p:sp>
      <p:graphicFrame>
        <p:nvGraphicFramePr>
          <p:cNvPr id="7" name="Table 6">
            <a:extLst>
              <a:ext uri="{FF2B5EF4-FFF2-40B4-BE49-F238E27FC236}">
                <a16:creationId xmlns:a16="http://schemas.microsoft.com/office/drawing/2014/main" id="{93602D9E-8654-5869-1CCC-276F69F05A61}"/>
              </a:ext>
            </a:extLst>
          </p:cNvPr>
          <p:cNvGraphicFramePr>
            <a:graphicFrameLocks noGrp="1"/>
          </p:cNvGraphicFramePr>
          <p:nvPr>
            <p:extLst>
              <p:ext uri="{D42A27DB-BD31-4B8C-83A1-F6EECF244321}">
                <p14:modId xmlns:p14="http://schemas.microsoft.com/office/powerpoint/2010/main" val="2982923133"/>
              </p:ext>
            </p:extLst>
          </p:nvPr>
        </p:nvGraphicFramePr>
        <p:xfrm>
          <a:off x="470206" y="1065695"/>
          <a:ext cx="10823105" cy="4995740"/>
        </p:xfrm>
        <a:graphic>
          <a:graphicData uri="http://schemas.openxmlformats.org/drawingml/2006/table">
            <a:tbl>
              <a:tblPr>
                <a:tableStyleId>{69C7853C-536D-4A76-A0AE-DD22124D55A5}</a:tableStyleId>
              </a:tblPr>
              <a:tblGrid>
                <a:gridCol w="2164621">
                  <a:extLst>
                    <a:ext uri="{9D8B030D-6E8A-4147-A177-3AD203B41FA5}">
                      <a16:colId xmlns:a16="http://schemas.microsoft.com/office/drawing/2014/main" val="250651896"/>
                    </a:ext>
                  </a:extLst>
                </a:gridCol>
                <a:gridCol w="2164621">
                  <a:extLst>
                    <a:ext uri="{9D8B030D-6E8A-4147-A177-3AD203B41FA5}">
                      <a16:colId xmlns:a16="http://schemas.microsoft.com/office/drawing/2014/main" val="1619462020"/>
                    </a:ext>
                  </a:extLst>
                </a:gridCol>
                <a:gridCol w="2164621">
                  <a:extLst>
                    <a:ext uri="{9D8B030D-6E8A-4147-A177-3AD203B41FA5}">
                      <a16:colId xmlns:a16="http://schemas.microsoft.com/office/drawing/2014/main" val="1612365304"/>
                    </a:ext>
                  </a:extLst>
                </a:gridCol>
                <a:gridCol w="2164621">
                  <a:extLst>
                    <a:ext uri="{9D8B030D-6E8A-4147-A177-3AD203B41FA5}">
                      <a16:colId xmlns:a16="http://schemas.microsoft.com/office/drawing/2014/main" val="4050441658"/>
                    </a:ext>
                  </a:extLst>
                </a:gridCol>
                <a:gridCol w="2164621">
                  <a:extLst>
                    <a:ext uri="{9D8B030D-6E8A-4147-A177-3AD203B41FA5}">
                      <a16:colId xmlns:a16="http://schemas.microsoft.com/office/drawing/2014/main" val="2568696848"/>
                    </a:ext>
                  </a:extLst>
                </a:gridCol>
              </a:tblGrid>
              <a:tr h="499574">
                <a:tc>
                  <a:txBody>
                    <a:bodyPr/>
                    <a:lstStyle/>
                    <a:p>
                      <a:pPr algn="ctr" fontAlgn="t">
                        <a:buNone/>
                      </a:pPr>
                      <a:r>
                        <a:rPr lang="en-IN" sz="1400" dirty="0">
                          <a:effectLst/>
                        </a:rPr>
                        <a:t>Operations approach</a:t>
                      </a:r>
                    </a:p>
                  </a:txBody>
                  <a:tcPr marL="33472" marR="33472" marT="16736" marB="16736"/>
                </a:tc>
                <a:tc>
                  <a:txBody>
                    <a:bodyPr/>
                    <a:lstStyle/>
                    <a:p>
                      <a:pPr algn="ctr" fontAlgn="t">
                        <a:buNone/>
                      </a:pPr>
                      <a:r>
                        <a:rPr lang="en-IN" sz="1400">
                          <a:effectLst/>
                        </a:rPr>
                        <a:t>Best for</a:t>
                      </a:r>
                    </a:p>
                  </a:txBody>
                  <a:tcPr marL="33472" marR="33472" marT="16736" marB="16736"/>
                </a:tc>
                <a:tc>
                  <a:txBody>
                    <a:bodyPr/>
                    <a:lstStyle/>
                    <a:p>
                      <a:pPr algn="ctr" fontAlgn="t">
                        <a:buNone/>
                      </a:pPr>
                      <a:r>
                        <a:rPr lang="en-IN" sz="1400">
                          <a:effectLst/>
                        </a:rPr>
                        <a:t>Responsibilities</a:t>
                      </a:r>
                    </a:p>
                  </a:txBody>
                  <a:tcPr marL="33472" marR="33472" marT="16736" marB="16736"/>
                </a:tc>
                <a:tc>
                  <a:txBody>
                    <a:bodyPr/>
                    <a:lstStyle/>
                    <a:p>
                      <a:pPr algn="ctr" fontAlgn="t">
                        <a:buNone/>
                      </a:pPr>
                      <a:r>
                        <a:rPr lang="en-IN" sz="1400">
                          <a:effectLst/>
                        </a:rPr>
                        <a:t>Pros</a:t>
                      </a:r>
                    </a:p>
                  </a:txBody>
                  <a:tcPr marL="33472" marR="33472" marT="16736" marB="16736"/>
                </a:tc>
                <a:tc>
                  <a:txBody>
                    <a:bodyPr/>
                    <a:lstStyle/>
                    <a:p>
                      <a:pPr algn="ctr" fontAlgn="t">
                        <a:buNone/>
                      </a:pPr>
                      <a:r>
                        <a:rPr lang="en-IN" sz="1400">
                          <a:effectLst/>
                        </a:rPr>
                        <a:t>Cons</a:t>
                      </a:r>
                    </a:p>
                  </a:txBody>
                  <a:tcPr marL="33472" marR="33472" marT="16736" marB="16736"/>
                </a:tc>
                <a:extLst>
                  <a:ext uri="{0D108BD9-81ED-4DB2-BD59-A6C34878D82A}">
                    <a16:rowId xmlns:a16="http://schemas.microsoft.com/office/drawing/2014/main" val="2776864554"/>
                  </a:ext>
                </a:extLst>
              </a:tr>
              <a:tr h="960719">
                <a:tc>
                  <a:txBody>
                    <a:bodyPr/>
                    <a:lstStyle/>
                    <a:p>
                      <a:pPr algn="ctr" fontAlgn="t">
                        <a:buNone/>
                      </a:pPr>
                      <a:r>
                        <a:rPr lang="en-IN" sz="1400" dirty="0">
                          <a:effectLst/>
                        </a:rPr>
                        <a:t>Centralized</a:t>
                      </a:r>
                    </a:p>
                  </a:txBody>
                  <a:tcPr marL="33472" marR="33472" marT="16736" marB="16736"/>
                </a:tc>
                <a:tc>
                  <a:txBody>
                    <a:bodyPr/>
                    <a:lstStyle/>
                    <a:p>
                      <a:pPr algn="ctr" fontAlgn="t">
                        <a:buNone/>
                      </a:pPr>
                      <a:r>
                        <a:rPr lang="en-IN" sz="1400">
                          <a:effectLst/>
                        </a:rPr>
                        <a:t>Startups, single-cloud estates</a:t>
                      </a:r>
                    </a:p>
                  </a:txBody>
                  <a:tcPr marL="33472" marR="33472" marT="16736" marB="16736"/>
                </a:tc>
                <a:tc>
                  <a:txBody>
                    <a:bodyPr/>
                    <a:lstStyle/>
                    <a:p>
                      <a:pPr algn="ctr" fontAlgn="t">
                        <a:buNone/>
                      </a:pPr>
                      <a:r>
                        <a:rPr lang="en-US" sz="1400">
                          <a:effectLst/>
                        </a:rPr>
                        <a:t>One cloud team manages every function</a:t>
                      </a:r>
                    </a:p>
                  </a:txBody>
                  <a:tcPr marL="33472" marR="33472" marT="16736" marB="16736"/>
                </a:tc>
                <a:tc>
                  <a:txBody>
                    <a:bodyPr/>
                    <a:lstStyle/>
                    <a:p>
                      <a:pPr algn="ctr" fontAlgn="t">
                        <a:buNone/>
                      </a:pPr>
                      <a:r>
                        <a:rPr lang="en-IN" sz="1400" dirty="0">
                          <a:effectLst/>
                        </a:rPr>
                        <a:t>Simpler control, uniform standards</a:t>
                      </a:r>
                    </a:p>
                  </a:txBody>
                  <a:tcPr marL="33472" marR="33472" marT="16736" marB="16736"/>
                </a:tc>
                <a:tc>
                  <a:txBody>
                    <a:bodyPr/>
                    <a:lstStyle/>
                    <a:p>
                      <a:pPr algn="ctr" fontAlgn="t">
                        <a:buNone/>
                      </a:pPr>
                      <a:r>
                        <a:rPr lang="en-US" sz="1400">
                          <a:effectLst/>
                        </a:rPr>
                        <a:t>One team becomes a bottleneck as scale grows</a:t>
                      </a:r>
                    </a:p>
                  </a:txBody>
                  <a:tcPr marL="33472" marR="33472" marT="16736" marB="16736"/>
                </a:tc>
                <a:extLst>
                  <a:ext uri="{0D108BD9-81ED-4DB2-BD59-A6C34878D82A}">
                    <a16:rowId xmlns:a16="http://schemas.microsoft.com/office/drawing/2014/main" val="41173224"/>
                  </a:ext>
                </a:extLst>
              </a:tr>
              <a:tr h="2690014">
                <a:tc>
                  <a:txBody>
                    <a:bodyPr/>
                    <a:lstStyle/>
                    <a:p>
                      <a:pPr algn="ctr" fontAlgn="t">
                        <a:buNone/>
                      </a:pPr>
                      <a:r>
                        <a:rPr lang="en-IN" sz="1400" dirty="0">
                          <a:effectLst/>
                        </a:rPr>
                        <a:t>Shared Management</a:t>
                      </a:r>
                    </a:p>
                  </a:txBody>
                  <a:tcPr marL="33472" marR="33472" marT="16736" marB="16736"/>
                </a:tc>
                <a:tc>
                  <a:txBody>
                    <a:bodyPr/>
                    <a:lstStyle/>
                    <a:p>
                      <a:pPr algn="ctr" fontAlgn="t">
                        <a:buNone/>
                      </a:pPr>
                      <a:r>
                        <a:rPr lang="en-US" sz="1400" dirty="0">
                          <a:effectLst/>
                        </a:rPr>
                        <a:t>Mid-size or enterprise estates, hybrid, or </a:t>
                      </a:r>
                      <a:r>
                        <a:rPr lang="en-US" sz="1400" dirty="0" err="1">
                          <a:effectLst/>
                        </a:rPr>
                        <a:t>multicloud</a:t>
                      </a:r>
                      <a:endParaRPr lang="en-US" sz="1400" dirty="0">
                        <a:effectLst/>
                      </a:endParaRPr>
                    </a:p>
                  </a:txBody>
                  <a:tcPr marL="33472" marR="33472" marT="16736" marB="16736"/>
                </a:tc>
                <a:tc>
                  <a:txBody>
                    <a:bodyPr/>
                    <a:lstStyle/>
                    <a:p>
                      <a:pPr algn="ctr" fontAlgn="t">
                        <a:buNone/>
                      </a:pPr>
                      <a:r>
                        <a:rPr lang="en-US" sz="1400" dirty="0">
                          <a:effectLst/>
                        </a:rPr>
                        <a:t>Platform teams build the </a:t>
                      </a:r>
                      <a:r>
                        <a:rPr lang="en-US" sz="1400" u="none" strike="noStrike" dirty="0">
                          <a:solidFill>
                            <a:srgbClr val="0065B3"/>
                          </a:solidFill>
                          <a:effectLst/>
                          <a:hlinkClick r:id="rId2"/>
                        </a:rPr>
                        <a:t>platform landing zones</a:t>
                      </a:r>
                      <a:r>
                        <a:rPr lang="en-US" sz="1400" dirty="0">
                          <a:effectLst/>
                        </a:rPr>
                        <a:t>, manages shared services, and governance guardrails.</a:t>
                      </a:r>
                      <a:br>
                        <a:rPr lang="en-US" sz="1400" dirty="0">
                          <a:effectLst/>
                        </a:rPr>
                      </a:br>
                      <a:r>
                        <a:rPr lang="en-US" sz="1400" dirty="0">
                          <a:effectLst/>
                        </a:rPr>
                        <a:t>Workload teams work autonomously within guardrails</a:t>
                      </a:r>
                    </a:p>
                  </a:txBody>
                  <a:tcPr marL="33472" marR="33472" marT="16736" marB="16736"/>
                </a:tc>
                <a:tc>
                  <a:txBody>
                    <a:bodyPr/>
                    <a:lstStyle/>
                    <a:p>
                      <a:pPr algn="ctr" fontAlgn="t">
                        <a:buNone/>
                      </a:pPr>
                      <a:r>
                        <a:rPr lang="en-US" sz="1400" dirty="0">
                          <a:effectLst/>
                        </a:rPr>
                        <a:t>Balances standards with team agility</a:t>
                      </a:r>
                    </a:p>
                  </a:txBody>
                  <a:tcPr marL="33472" marR="33472" marT="16736" marB="16736"/>
                </a:tc>
                <a:tc>
                  <a:txBody>
                    <a:bodyPr/>
                    <a:lstStyle/>
                    <a:p>
                      <a:pPr algn="ctr" fontAlgn="t">
                        <a:buNone/>
                      </a:pPr>
                      <a:r>
                        <a:rPr lang="en-US" sz="1400" dirty="0">
                          <a:effectLst/>
                        </a:rPr>
                        <a:t>Requires clear responsibilities and strong coordination</a:t>
                      </a:r>
                    </a:p>
                  </a:txBody>
                  <a:tcPr marL="33472" marR="33472" marT="16736" marB="16736"/>
                </a:tc>
                <a:extLst>
                  <a:ext uri="{0D108BD9-81ED-4DB2-BD59-A6C34878D82A}">
                    <a16:rowId xmlns:a16="http://schemas.microsoft.com/office/drawing/2014/main" val="2068956739"/>
                  </a:ext>
                </a:extLst>
              </a:tr>
              <a:tr h="845433">
                <a:tc>
                  <a:txBody>
                    <a:bodyPr/>
                    <a:lstStyle/>
                    <a:p>
                      <a:pPr algn="ctr" fontAlgn="t">
                        <a:buNone/>
                      </a:pPr>
                      <a:r>
                        <a:rPr lang="en-IN" sz="1400">
                          <a:effectLst/>
                        </a:rPr>
                        <a:t>Decentralized</a:t>
                      </a:r>
                    </a:p>
                  </a:txBody>
                  <a:tcPr marL="33472" marR="33472" marT="16736" marB="16736"/>
                </a:tc>
                <a:tc>
                  <a:txBody>
                    <a:bodyPr/>
                    <a:lstStyle/>
                    <a:p>
                      <a:pPr algn="ctr" fontAlgn="t">
                        <a:buNone/>
                      </a:pPr>
                      <a:r>
                        <a:rPr lang="en-IN" sz="1400">
                          <a:effectLst/>
                        </a:rPr>
                        <a:t>Tech-savvy startups, innovation programs</a:t>
                      </a:r>
                    </a:p>
                  </a:txBody>
                  <a:tcPr marL="33472" marR="33472" marT="16736" marB="16736"/>
                </a:tc>
                <a:tc>
                  <a:txBody>
                    <a:bodyPr/>
                    <a:lstStyle/>
                    <a:p>
                      <a:pPr algn="ctr" fontAlgn="t">
                        <a:buNone/>
                      </a:pPr>
                      <a:r>
                        <a:rPr lang="en-US" sz="1400">
                          <a:effectLst/>
                        </a:rPr>
                        <a:t>Each team owns every cloud task</a:t>
                      </a:r>
                    </a:p>
                  </a:txBody>
                  <a:tcPr marL="33472" marR="33472" marT="16736" marB="16736"/>
                </a:tc>
                <a:tc>
                  <a:txBody>
                    <a:bodyPr/>
                    <a:lstStyle/>
                    <a:p>
                      <a:pPr algn="ctr" fontAlgn="t">
                        <a:buNone/>
                      </a:pPr>
                      <a:r>
                        <a:rPr lang="en-IN" sz="1400" dirty="0">
                          <a:effectLst/>
                        </a:rPr>
                        <a:t>High speed and autonomy</a:t>
                      </a:r>
                    </a:p>
                  </a:txBody>
                  <a:tcPr marL="33472" marR="33472" marT="16736" marB="16736"/>
                </a:tc>
                <a:tc>
                  <a:txBody>
                    <a:bodyPr/>
                    <a:lstStyle/>
                    <a:p>
                      <a:pPr algn="ctr" fontAlgn="t">
                        <a:buNone/>
                      </a:pPr>
                      <a:r>
                        <a:rPr lang="en-US" sz="1400" dirty="0">
                          <a:effectLst/>
                        </a:rPr>
                        <a:t>Weaker standardization, higher risk of security gaps</a:t>
                      </a:r>
                    </a:p>
                  </a:txBody>
                  <a:tcPr marL="33472" marR="33472" marT="16736" marB="16736"/>
                </a:tc>
                <a:extLst>
                  <a:ext uri="{0D108BD9-81ED-4DB2-BD59-A6C34878D82A}">
                    <a16:rowId xmlns:a16="http://schemas.microsoft.com/office/drawing/2014/main" val="3621394107"/>
                  </a:ext>
                </a:extLst>
              </a:tr>
            </a:tbl>
          </a:graphicData>
        </a:graphic>
      </p:graphicFrame>
    </p:spTree>
    <p:extLst>
      <p:ext uri="{BB962C8B-B14F-4D97-AF65-F5344CB8AC3E}">
        <p14:creationId xmlns:p14="http://schemas.microsoft.com/office/powerpoint/2010/main" val="3043543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C8A2F1-1CBA-98DF-4F76-14DB44C69EE4}"/>
              </a:ext>
            </a:extLst>
          </p:cNvPr>
          <p:cNvSpPr txBox="1"/>
          <p:nvPr/>
        </p:nvSpPr>
        <p:spPr>
          <a:xfrm>
            <a:off x="417137" y="380941"/>
            <a:ext cx="6094428" cy="369332"/>
          </a:xfrm>
          <a:prstGeom prst="rect">
            <a:avLst/>
          </a:prstGeom>
          <a:noFill/>
        </p:spPr>
        <p:txBody>
          <a:bodyPr wrap="square">
            <a:spAutoFit/>
          </a:bodyPr>
          <a:lstStyle/>
          <a:p>
            <a:r>
              <a:rPr lang="en-US" dirty="0"/>
              <a:t>Step 1 – Discover the Digital Estate</a:t>
            </a:r>
            <a:endParaRPr lang="en-IN" dirty="0"/>
          </a:p>
        </p:txBody>
      </p:sp>
      <p:sp>
        <p:nvSpPr>
          <p:cNvPr id="5" name="TextBox 4">
            <a:extLst>
              <a:ext uri="{FF2B5EF4-FFF2-40B4-BE49-F238E27FC236}">
                <a16:creationId xmlns:a16="http://schemas.microsoft.com/office/drawing/2014/main" id="{F84A4B6A-6584-122D-4923-E80A42D4D10A}"/>
              </a:ext>
            </a:extLst>
          </p:cNvPr>
          <p:cNvSpPr txBox="1"/>
          <p:nvPr/>
        </p:nvSpPr>
        <p:spPr>
          <a:xfrm>
            <a:off x="417137" y="836331"/>
            <a:ext cx="10159737" cy="307777"/>
          </a:xfrm>
          <a:prstGeom prst="rect">
            <a:avLst/>
          </a:prstGeom>
          <a:noFill/>
        </p:spPr>
        <p:txBody>
          <a:bodyPr wrap="square">
            <a:spAutoFit/>
          </a:bodyPr>
          <a:lstStyle/>
          <a:p>
            <a:r>
              <a:rPr lang="en-US" sz="1400" dirty="0"/>
              <a:t>The first activity is to understand the existing IT environment (also called the digital estate).</a:t>
            </a:r>
            <a:endParaRPr lang="en-IN" sz="1400" dirty="0"/>
          </a:p>
        </p:txBody>
      </p:sp>
      <p:sp>
        <p:nvSpPr>
          <p:cNvPr id="7" name="TextBox 6">
            <a:extLst>
              <a:ext uri="{FF2B5EF4-FFF2-40B4-BE49-F238E27FC236}">
                <a16:creationId xmlns:a16="http://schemas.microsoft.com/office/drawing/2014/main" id="{2CAEC8C3-74FF-BF4B-56D3-9DA51DCD31FE}"/>
              </a:ext>
            </a:extLst>
          </p:cNvPr>
          <p:cNvSpPr txBox="1"/>
          <p:nvPr/>
        </p:nvSpPr>
        <p:spPr>
          <a:xfrm>
            <a:off x="417137" y="1314195"/>
            <a:ext cx="6094428" cy="369332"/>
          </a:xfrm>
          <a:prstGeom prst="rect">
            <a:avLst/>
          </a:prstGeom>
          <a:noFill/>
        </p:spPr>
        <p:txBody>
          <a:bodyPr wrap="square">
            <a:spAutoFit/>
          </a:bodyPr>
          <a:lstStyle/>
          <a:p>
            <a:r>
              <a:rPr lang="en-US" dirty="0"/>
              <a:t>Step 2 – Inventory the Workloads</a:t>
            </a:r>
            <a:endParaRPr lang="en-IN" dirty="0"/>
          </a:p>
        </p:txBody>
      </p:sp>
      <p:graphicFrame>
        <p:nvGraphicFramePr>
          <p:cNvPr id="8" name="Table 7">
            <a:extLst>
              <a:ext uri="{FF2B5EF4-FFF2-40B4-BE49-F238E27FC236}">
                <a16:creationId xmlns:a16="http://schemas.microsoft.com/office/drawing/2014/main" id="{8975B9B4-35E3-7383-B164-BD1E16F408F8}"/>
              </a:ext>
            </a:extLst>
          </p:cNvPr>
          <p:cNvGraphicFramePr>
            <a:graphicFrameLocks noGrp="1"/>
          </p:cNvGraphicFramePr>
          <p:nvPr>
            <p:extLst>
              <p:ext uri="{D42A27DB-BD31-4B8C-83A1-F6EECF244321}">
                <p14:modId xmlns:p14="http://schemas.microsoft.com/office/powerpoint/2010/main" val="1336216395"/>
              </p:ext>
            </p:extLst>
          </p:nvPr>
        </p:nvGraphicFramePr>
        <p:xfrm>
          <a:off x="417137" y="1683526"/>
          <a:ext cx="11149551" cy="2011680"/>
        </p:xfrm>
        <a:graphic>
          <a:graphicData uri="http://schemas.openxmlformats.org/drawingml/2006/table">
            <a:tbl>
              <a:tblPr>
                <a:tableStyleId>{69C7853C-536D-4A76-A0AE-DD22124D55A5}</a:tableStyleId>
              </a:tblPr>
              <a:tblGrid>
                <a:gridCol w="3716517">
                  <a:extLst>
                    <a:ext uri="{9D8B030D-6E8A-4147-A177-3AD203B41FA5}">
                      <a16:colId xmlns:a16="http://schemas.microsoft.com/office/drawing/2014/main" val="2407180683"/>
                    </a:ext>
                  </a:extLst>
                </a:gridCol>
                <a:gridCol w="3716517">
                  <a:extLst>
                    <a:ext uri="{9D8B030D-6E8A-4147-A177-3AD203B41FA5}">
                      <a16:colId xmlns:a16="http://schemas.microsoft.com/office/drawing/2014/main" val="3578535364"/>
                    </a:ext>
                  </a:extLst>
                </a:gridCol>
                <a:gridCol w="3716517">
                  <a:extLst>
                    <a:ext uri="{9D8B030D-6E8A-4147-A177-3AD203B41FA5}">
                      <a16:colId xmlns:a16="http://schemas.microsoft.com/office/drawing/2014/main" val="2363604885"/>
                    </a:ext>
                  </a:extLst>
                </a:gridCol>
              </a:tblGrid>
              <a:tr h="290912">
                <a:tc>
                  <a:txBody>
                    <a:bodyPr/>
                    <a:lstStyle/>
                    <a:p>
                      <a:pPr algn="ctr">
                        <a:buNone/>
                      </a:pPr>
                      <a:r>
                        <a:rPr lang="en-IN" sz="1600" dirty="0"/>
                        <a:t>Workload</a:t>
                      </a:r>
                    </a:p>
                  </a:txBody>
                  <a:tcPr anchor="ctr"/>
                </a:tc>
                <a:tc>
                  <a:txBody>
                    <a:bodyPr/>
                    <a:lstStyle/>
                    <a:p>
                      <a:pPr algn="ctr">
                        <a:buNone/>
                      </a:pPr>
                      <a:r>
                        <a:rPr lang="en-IN" sz="1600"/>
                        <a:t>Type</a:t>
                      </a:r>
                    </a:p>
                  </a:txBody>
                  <a:tcPr anchor="ctr"/>
                </a:tc>
                <a:tc>
                  <a:txBody>
                    <a:bodyPr/>
                    <a:lstStyle/>
                    <a:p>
                      <a:pPr algn="ctr">
                        <a:buNone/>
                      </a:pPr>
                      <a:r>
                        <a:rPr lang="en-IN" sz="1600"/>
                        <a:t>Criticality</a:t>
                      </a:r>
                    </a:p>
                  </a:txBody>
                  <a:tcPr anchor="ctr"/>
                </a:tc>
                <a:extLst>
                  <a:ext uri="{0D108BD9-81ED-4DB2-BD59-A6C34878D82A}">
                    <a16:rowId xmlns:a16="http://schemas.microsoft.com/office/drawing/2014/main" val="3244448072"/>
                  </a:ext>
                </a:extLst>
              </a:tr>
              <a:tr h="290912">
                <a:tc>
                  <a:txBody>
                    <a:bodyPr/>
                    <a:lstStyle/>
                    <a:p>
                      <a:pPr algn="ctr">
                        <a:buNone/>
                      </a:pPr>
                      <a:r>
                        <a:rPr lang="en-IN" sz="1600" dirty="0"/>
                        <a:t>HR Portal</a:t>
                      </a:r>
                    </a:p>
                  </a:txBody>
                  <a:tcPr anchor="ctr"/>
                </a:tc>
                <a:tc>
                  <a:txBody>
                    <a:bodyPr/>
                    <a:lstStyle/>
                    <a:p>
                      <a:pPr algn="ctr">
                        <a:buNone/>
                      </a:pPr>
                      <a:r>
                        <a:rPr lang="en-IN" sz="1600"/>
                        <a:t>Web Application</a:t>
                      </a:r>
                    </a:p>
                  </a:txBody>
                  <a:tcPr anchor="ctr"/>
                </a:tc>
                <a:tc>
                  <a:txBody>
                    <a:bodyPr/>
                    <a:lstStyle/>
                    <a:p>
                      <a:pPr algn="ctr">
                        <a:buNone/>
                      </a:pPr>
                      <a:r>
                        <a:rPr lang="en-IN" sz="1600"/>
                        <a:t>Medium</a:t>
                      </a:r>
                    </a:p>
                  </a:txBody>
                  <a:tcPr anchor="ctr"/>
                </a:tc>
                <a:extLst>
                  <a:ext uri="{0D108BD9-81ED-4DB2-BD59-A6C34878D82A}">
                    <a16:rowId xmlns:a16="http://schemas.microsoft.com/office/drawing/2014/main" val="1227115377"/>
                  </a:ext>
                </a:extLst>
              </a:tr>
              <a:tr h="290912">
                <a:tc>
                  <a:txBody>
                    <a:bodyPr/>
                    <a:lstStyle/>
                    <a:p>
                      <a:pPr algn="ctr">
                        <a:buNone/>
                      </a:pPr>
                      <a:r>
                        <a:rPr lang="en-IN" sz="1600"/>
                        <a:t>Payroll</a:t>
                      </a:r>
                    </a:p>
                  </a:txBody>
                  <a:tcPr anchor="ctr"/>
                </a:tc>
                <a:tc>
                  <a:txBody>
                    <a:bodyPr/>
                    <a:lstStyle/>
                    <a:p>
                      <a:pPr algn="ctr">
                        <a:buNone/>
                      </a:pPr>
                      <a:r>
                        <a:rPr lang="en-IN" sz="1600"/>
                        <a:t>Business Application</a:t>
                      </a:r>
                    </a:p>
                  </a:txBody>
                  <a:tcPr anchor="ctr"/>
                </a:tc>
                <a:tc>
                  <a:txBody>
                    <a:bodyPr/>
                    <a:lstStyle/>
                    <a:p>
                      <a:pPr algn="ctr">
                        <a:buNone/>
                      </a:pPr>
                      <a:r>
                        <a:rPr lang="en-IN" sz="1600" dirty="0"/>
                        <a:t>High</a:t>
                      </a:r>
                    </a:p>
                  </a:txBody>
                  <a:tcPr anchor="ctr"/>
                </a:tc>
                <a:extLst>
                  <a:ext uri="{0D108BD9-81ED-4DB2-BD59-A6C34878D82A}">
                    <a16:rowId xmlns:a16="http://schemas.microsoft.com/office/drawing/2014/main" val="3687914022"/>
                  </a:ext>
                </a:extLst>
              </a:tr>
              <a:tr h="290912">
                <a:tc>
                  <a:txBody>
                    <a:bodyPr/>
                    <a:lstStyle/>
                    <a:p>
                      <a:pPr algn="ctr">
                        <a:buNone/>
                      </a:pPr>
                      <a:r>
                        <a:rPr lang="en-IN" sz="1600"/>
                        <a:t>SAP</a:t>
                      </a:r>
                    </a:p>
                  </a:txBody>
                  <a:tcPr anchor="ctr"/>
                </a:tc>
                <a:tc>
                  <a:txBody>
                    <a:bodyPr/>
                    <a:lstStyle/>
                    <a:p>
                      <a:pPr algn="ctr">
                        <a:buNone/>
                      </a:pPr>
                      <a:r>
                        <a:rPr lang="en-IN" sz="1600"/>
                        <a:t>ERP</a:t>
                      </a:r>
                    </a:p>
                  </a:txBody>
                  <a:tcPr anchor="ctr"/>
                </a:tc>
                <a:tc>
                  <a:txBody>
                    <a:bodyPr/>
                    <a:lstStyle/>
                    <a:p>
                      <a:pPr algn="ctr">
                        <a:buNone/>
                      </a:pPr>
                      <a:r>
                        <a:rPr lang="en-IN" sz="1600"/>
                        <a:t>Critical</a:t>
                      </a:r>
                    </a:p>
                  </a:txBody>
                  <a:tcPr anchor="ctr"/>
                </a:tc>
                <a:extLst>
                  <a:ext uri="{0D108BD9-81ED-4DB2-BD59-A6C34878D82A}">
                    <a16:rowId xmlns:a16="http://schemas.microsoft.com/office/drawing/2014/main" val="1834157338"/>
                  </a:ext>
                </a:extLst>
              </a:tr>
              <a:tr h="290912">
                <a:tc>
                  <a:txBody>
                    <a:bodyPr/>
                    <a:lstStyle/>
                    <a:p>
                      <a:pPr algn="ctr">
                        <a:buNone/>
                      </a:pPr>
                      <a:r>
                        <a:rPr lang="en-IN" sz="1600"/>
                        <a:t>CRM</a:t>
                      </a:r>
                    </a:p>
                  </a:txBody>
                  <a:tcPr anchor="ctr"/>
                </a:tc>
                <a:tc>
                  <a:txBody>
                    <a:bodyPr/>
                    <a:lstStyle/>
                    <a:p>
                      <a:pPr algn="ctr">
                        <a:buNone/>
                      </a:pPr>
                      <a:r>
                        <a:rPr lang="en-IN" sz="1600" dirty="0"/>
                        <a:t>Customer Management</a:t>
                      </a:r>
                    </a:p>
                  </a:txBody>
                  <a:tcPr anchor="ctr"/>
                </a:tc>
                <a:tc>
                  <a:txBody>
                    <a:bodyPr/>
                    <a:lstStyle/>
                    <a:p>
                      <a:pPr algn="ctr">
                        <a:buNone/>
                      </a:pPr>
                      <a:r>
                        <a:rPr lang="en-IN" sz="1600"/>
                        <a:t>High</a:t>
                      </a:r>
                    </a:p>
                  </a:txBody>
                  <a:tcPr anchor="ctr"/>
                </a:tc>
                <a:extLst>
                  <a:ext uri="{0D108BD9-81ED-4DB2-BD59-A6C34878D82A}">
                    <a16:rowId xmlns:a16="http://schemas.microsoft.com/office/drawing/2014/main" val="2383741878"/>
                  </a:ext>
                </a:extLst>
              </a:tr>
              <a:tr h="290912">
                <a:tc>
                  <a:txBody>
                    <a:bodyPr/>
                    <a:lstStyle/>
                    <a:p>
                      <a:pPr algn="ctr">
                        <a:buNone/>
                      </a:pPr>
                      <a:r>
                        <a:rPr lang="en-IN" sz="1600" dirty="0"/>
                        <a:t>Email Server</a:t>
                      </a:r>
                    </a:p>
                  </a:txBody>
                  <a:tcPr anchor="ctr"/>
                </a:tc>
                <a:tc>
                  <a:txBody>
                    <a:bodyPr/>
                    <a:lstStyle/>
                    <a:p>
                      <a:pPr algn="ctr">
                        <a:buNone/>
                      </a:pPr>
                      <a:r>
                        <a:rPr lang="en-IN" sz="1600"/>
                        <a:t>Infrastructure</a:t>
                      </a:r>
                    </a:p>
                  </a:txBody>
                  <a:tcPr anchor="ctr"/>
                </a:tc>
                <a:tc>
                  <a:txBody>
                    <a:bodyPr/>
                    <a:lstStyle/>
                    <a:p>
                      <a:pPr algn="ctr">
                        <a:buNone/>
                      </a:pPr>
                      <a:r>
                        <a:rPr lang="en-IN" sz="1600" dirty="0"/>
                        <a:t>Medium</a:t>
                      </a:r>
                    </a:p>
                  </a:txBody>
                  <a:tcPr anchor="ctr"/>
                </a:tc>
                <a:extLst>
                  <a:ext uri="{0D108BD9-81ED-4DB2-BD59-A6C34878D82A}">
                    <a16:rowId xmlns:a16="http://schemas.microsoft.com/office/drawing/2014/main" val="3998157110"/>
                  </a:ext>
                </a:extLst>
              </a:tr>
            </a:tbl>
          </a:graphicData>
        </a:graphic>
      </p:graphicFrame>
      <p:sp>
        <p:nvSpPr>
          <p:cNvPr id="10" name="TextBox 9">
            <a:extLst>
              <a:ext uri="{FF2B5EF4-FFF2-40B4-BE49-F238E27FC236}">
                <a16:creationId xmlns:a16="http://schemas.microsoft.com/office/drawing/2014/main" id="{68F2EF87-C452-B5A5-3775-5F524F7A5D52}"/>
              </a:ext>
            </a:extLst>
          </p:cNvPr>
          <p:cNvSpPr txBox="1"/>
          <p:nvPr/>
        </p:nvSpPr>
        <p:spPr>
          <a:xfrm>
            <a:off x="417137" y="3865292"/>
            <a:ext cx="6094428" cy="369332"/>
          </a:xfrm>
          <a:prstGeom prst="rect">
            <a:avLst/>
          </a:prstGeom>
          <a:noFill/>
        </p:spPr>
        <p:txBody>
          <a:bodyPr wrap="square">
            <a:spAutoFit/>
          </a:bodyPr>
          <a:lstStyle/>
          <a:p>
            <a:r>
              <a:rPr lang="en-IN" dirty="0"/>
              <a:t>Step 3 – Assess Workloads</a:t>
            </a:r>
          </a:p>
        </p:txBody>
      </p:sp>
      <p:sp>
        <p:nvSpPr>
          <p:cNvPr id="13" name="TextBox 12">
            <a:extLst>
              <a:ext uri="{FF2B5EF4-FFF2-40B4-BE49-F238E27FC236}">
                <a16:creationId xmlns:a16="http://schemas.microsoft.com/office/drawing/2014/main" id="{CD9B2481-347C-425F-5AA0-EB0E470CDB8A}"/>
              </a:ext>
            </a:extLst>
          </p:cNvPr>
          <p:cNvSpPr txBox="1"/>
          <p:nvPr/>
        </p:nvSpPr>
        <p:spPr>
          <a:xfrm>
            <a:off x="575035" y="4440025"/>
            <a:ext cx="7579151" cy="1754326"/>
          </a:xfrm>
          <a:prstGeom prst="rect">
            <a:avLst/>
          </a:prstGeom>
          <a:noFill/>
        </p:spPr>
        <p:txBody>
          <a:bodyPr wrap="square" rtlCol="0">
            <a:spAutoFit/>
          </a:bodyPr>
          <a:lstStyle/>
          <a:p>
            <a:r>
              <a:rPr lang="en-IN" dirty="0"/>
              <a:t>Is it cloud-ready?</a:t>
            </a:r>
          </a:p>
          <a:p>
            <a:r>
              <a:rPr lang="en-IN" dirty="0"/>
              <a:t>Does it require modernization?</a:t>
            </a:r>
          </a:p>
          <a:p>
            <a:r>
              <a:rPr lang="en-IN" dirty="0"/>
              <a:t>Is it business-critical?</a:t>
            </a:r>
          </a:p>
          <a:p>
            <a:r>
              <a:rPr lang="en-US" dirty="0"/>
              <a:t>What operating system does it use?</a:t>
            </a:r>
          </a:p>
          <a:p>
            <a:r>
              <a:rPr lang="en-US" dirty="0"/>
              <a:t>What database does it depend on?</a:t>
            </a:r>
          </a:p>
          <a:p>
            <a:r>
              <a:rPr lang="en-IN" dirty="0"/>
              <a:t>Is it supported?</a:t>
            </a:r>
          </a:p>
        </p:txBody>
      </p:sp>
    </p:spTree>
    <p:extLst>
      <p:ext uri="{BB962C8B-B14F-4D97-AF65-F5344CB8AC3E}">
        <p14:creationId xmlns:p14="http://schemas.microsoft.com/office/powerpoint/2010/main" val="2952891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9C10A3-F244-18C6-F76B-EA6F95F289CB}"/>
              </a:ext>
            </a:extLst>
          </p:cNvPr>
          <p:cNvSpPr txBox="1"/>
          <p:nvPr/>
        </p:nvSpPr>
        <p:spPr>
          <a:xfrm>
            <a:off x="370003" y="277246"/>
            <a:ext cx="6094428" cy="369332"/>
          </a:xfrm>
          <a:prstGeom prst="rect">
            <a:avLst/>
          </a:prstGeom>
          <a:noFill/>
        </p:spPr>
        <p:txBody>
          <a:bodyPr wrap="square">
            <a:spAutoFit/>
          </a:bodyPr>
          <a:lstStyle/>
          <a:p>
            <a:r>
              <a:rPr lang="en-IN" dirty="0"/>
              <a:t>Step 4 – Dependency Analysis</a:t>
            </a:r>
          </a:p>
        </p:txBody>
      </p:sp>
      <p:sp>
        <p:nvSpPr>
          <p:cNvPr id="5" name="TextBox 4">
            <a:extLst>
              <a:ext uri="{FF2B5EF4-FFF2-40B4-BE49-F238E27FC236}">
                <a16:creationId xmlns:a16="http://schemas.microsoft.com/office/drawing/2014/main" id="{E6AD5CB2-23D6-924E-8590-37FA1D249CF4}"/>
              </a:ext>
            </a:extLst>
          </p:cNvPr>
          <p:cNvSpPr txBox="1"/>
          <p:nvPr/>
        </p:nvSpPr>
        <p:spPr>
          <a:xfrm>
            <a:off x="370002" y="646578"/>
            <a:ext cx="10687639" cy="923330"/>
          </a:xfrm>
          <a:prstGeom prst="rect">
            <a:avLst/>
          </a:prstGeom>
          <a:noFill/>
        </p:spPr>
        <p:txBody>
          <a:bodyPr wrap="square">
            <a:spAutoFit/>
          </a:bodyPr>
          <a:lstStyle/>
          <a:p>
            <a:r>
              <a:rPr lang="en-US" dirty="0"/>
              <a:t>Many applications communicate with databases, APIs, storage accounts, and other services.</a:t>
            </a:r>
            <a:r>
              <a:rPr lang="en-IN" dirty="0"/>
              <a:t> Example : Payroll Application depends upon  SQL Database</a:t>
            </a:r>
          </a:p>
          <a:p>
            <a:endParaRPr lang="en-IN" dirty="0"/>
          </a:p>
        </p:txBody>
      </p:sp>
      <p:sp>
        <p:nvSpPr>
          <p:cNvPr id="9" name="TextBox 8">
            <a:extLst>
              <a:ext uri="{FF2B5EF4-FFF2-40B4-BE49-F238E27FC236}">
                <a16:creationId xmlns:a16="http://schemas.microsoft.com/office/drawing/2014/main" id="{62435141-1B44-3B3B-782F-BC493AAA062A}"/>
              </a:ext>
            </a:extLst>
          </p:cNvPr>
          <p:cNvSpPr txBox="1"/>
          <p:nvPr/>
        </p:nvSpPr>
        <p:spPr>
          <a:xfrm>
            <a:off x="370003" y="1385242"/>
            <a:ext cx="6094428" cy="369332"/>
          </a:xfrm>
          <a:prstGeom prst="rect">
            <a:avLst/>
          </a:prstGeom>
          <a:noFill/>
        </p:spPr>
        <p:txBody>
          <a:bodyPr wrap="square">
            <a:spAutoFit/>
          </a:bodyPr>
          <a:lstStyle/>
          <a:p>
            <a:r>
              <a:rPr lang="en-IN" dirty="0"/>
              <a:t>Step 5 – Prioritize Workloads</a:t>
            </a:r>
          </a:p>
        </p:txBody>
      </p:sp>
      <p:sp>
        <p:nvSpPr>
          <p:cNvPr id="11" name="TextBox 10">
            <a:extLst>
              <a:ext uri="{FF2B5EF4-FFF2-40B4-BE49-F238E27FC236}">
                <a16:creationId xmlns:a16="http://schemas.microsoft.com/office/drawing/2014/main" id="{E6BE9EDD-7A8A-9B0F-68C5-A13A10C1DF75}"/>
              </a:ext>
            </a:extLst>
          </p:cNvPr>
          <p:cNvSpPr txBox="1"/>
          <p:nvPr/>
        </p:nvSpPr>
        <p:spPr>
          <a:xfrm>
            <a:off x="377072" y="1846907"/>
            <a:ext cx="10331777" cy="369332"/>
          </a:xfrm>
          <a:prstGeom prst="rect">
            <a:avLst/>
          </a:prstGeom>
          <a:noFill/>
        </p:spPr>
        <p:txBody>
          <a:bodyPr wrap="square">
            <a:spAutoFit/>
          </a:bodyPr>
          <a:lstStyle/>
          <a:p>
            <a:pPr>
              <a:buNone/>
            </a:pPr>
            <a:r>
              <a:rPr lang="en-US" dirty="0"/>
              <a:t>Organizations usually migrate low-risk workloads before business-critical systems.</a:t>
            </a:r>
          </a:p>
        </p:txBody>
      </p:sp>
      <p:sp>
        <p:nvSpPr>
          <p:cNvPr id="16" name="TextBox 15">
            <a:extLst>
              <a:ext uri="{FF2B5EF4-FFF2-40B4-BE49-F238E27FC236}">
                <a16:creationId xmlns:a16="http://schemas.microsoft.com/office/drawing/2014/main" id="{61B4C956-3A3F-891F-39E6-863FE2083A86}"/>
              </a:ext>
            </a:extLst>
          </p:cNvPr>
          <p:cNvSpPr txBox="1"/>
          <p:nvPr/>
        </p:nvSpPr>
        <p:spPr>
          <a:xfrm>
            <a:off x="377072" y="2493238"/>
            <a:ext cx="11321592" cy="646331"/>
          </a:xfrm>
          <a:prstGeom prst="rect">
            <a:avLst/>
          </a:prstGeom>
          <a:noFill/>
        </p:spPr>
        <p:txBody>
          <a:bodyPr wrap="square">
            <a:spAutoFit/>
          </a:bodyPr>
          <a:lstStyle/>
          <a:p>
            <a:r>
              <a:rPr lang="en-US" dirty="0"/>
              <a:t>Step 6 – Define Migration Waves</a:t>
            </a:r>
          </a:p>
          <a:p>
            <a:r>
              <a:rPr lang="en-US" dirty="0"/>
              <a:t>Means which Application / database migrated in Phases like Phase-1 Phase-2</a:t>
            </a:r>
            <a:endParaRPr lang="en-IN" dirty="0"/>
          </a:p>
        </p:txBody>
      </p:sp>
      <p:sp>
        <p:nvSpPr>
          <p:cNvPr id="18" name="TextBox 17">
            <a:extLst>
              <a:ext uri="{FF2B5EF4-FFF2-40B4-BE49-F238E27FC236}">
                <a16:creationId xmlns:a16="http://schemas.microsoft.com/office/drawing/2014/main" id="{EDACA282-7389-31CA-64DE-4D539B6E089B}"/>
              </a:ext>
            </a:extLst>
          </p:cNvPr>
          <p:cNvSpPr txBox="1"/>
          <p:nvPr/>
        </p:nvSpPr>
        <p:spPr>
          <a:xfrm>
            <a:off x="377072" y="3429000"/>
            <a:ext cx="6094428" cy="369332"/>
          </a:xfrm>
          <a:prstGeom prst="rect">
            <a:avLst/>
          </a:prstGeom>
          <a:noFill/>
        </p:spPr>
        <p:txBody>
          <a:bodyPr wrap="square">
            <a:spAutoFit/>
          </a:bodyPr>
          <a:lstStyle/>
          <a:p>
            <a:r>
              <a:rPr lang="en-US" dirty="0"/>
              <a:t>Step 7 – Estimate Timeline and Resources</a:t>
            </a:r>
            <a:endParaRPr lang="en-IN" dirty="0"/>
          </a:p>
        </p:txBody>
      </p:sp>
      <p:graphicFrame>
        <p:nvGraphicFramePr>
          <p:cNvPr id="19" name="Table 18">
            <a:extLst>
              <a:ext uri="{FF2B5EF4-FFF2-40B4-BE49-F238E27FC236}">
                <a16:creationId xmlns:a16="http://schemas.microsoft.com/office/drawing/2014/main" id="{679E42BE-49BB-5867-1DDA-750C99A231AF}"/>
              </a:ext>
            </a:extLst>
          </p:cNvPr>
          <p:cNvGraphicFramePr>
            <a:graphicFrameLocks noGrp="1"/>
          </p:cNvGraphicFramePr>
          <p:nvPr>
            <p:extLst>
              <p:ext uri="{D42A27DB-BD31-4B8C-83A1-F6EECF244321}">
                <p14:modId xmlns:p14="http://schemas.microsoft.com/office/powerpoint/2010/main" val="3430517360"/>
              </p:ext>
            </p:extLst>
          </p:nvPr>
        </p:nvGraphicFramePr>
        <p:xfrm>
          <a:off x="377072" y="4214340"/>
          <a:ext cx="10515600" cy="2194560"/>
        </p:xfrm>
        <a:graphic>
          <a:graphicData uri="http://schemas.openxmlformats.org/drawingml/2006/table">
            <a:tbl>
              <a:tblPr>
                <a:tableStyleId>{69C7853C-536D-4A76-A0AE-DD22124D55A5}</a:tableStyleId>
              </a:tblPr>
              <a:tblGrid>
                <a:gridCol w="5257800">
                  <a:extLst>
                    <a:ext uri="{9D8B030D-6E8A-4147-A177-3AD203B41FA5}">
                      <a16:colId xmlns:a16="http://schemas.microsoft.com/office/drawing/2014/main" val="532558750"/>
                    </a:ext>
                  </a:extLst>
                </a:gridCol>
                <a:gridCol w="5257800">
                  <a:extLst>
                    <a:ext uri="{9D8B030D-6E8A-4147-A177-3AD203B41FA5}">
                      <a16:colId xmlns:a16="http://schemas.microsoft.com/office/drawing/2014/main" val="1567406491"/>
                    </a:ext>
                  </a:extLst>
                </a:gridCol>
              </a:tblGrid>
              <a:tr h="0">
                <a:tc>
                  <a:txBody>
                    <a:bodyPr/>
                    <a:lstStyle/>
                    <a:p>
                      <a:pPr>
                        <a:buNone/>
                      </a:pPr>
                      <a:r>
                        <a:rPr lang="en-IN"/>
                        <a:t>Activity</a:t>
                      </a:r>
                    </a:p>
                  </a:txBody>
                  <a:tcPr anchor="ctr"/>
                </a:tc>
                <a:tc>
                  <a:txBody>
                    <a:bodyPr/>
                    <a:lstStyle/>
                    <a:p>
                      <a:pPr>
                        <a:buNone/>
                      </a:pPr>
                      <a:r>
                        <a:rPr lang="en-IN"/>
                        <a:t>Duration</a:t>
                      </a:r>
                    </a:p>
                  </a:txBody>
                  <a:tcPr anchor="ctr"/>
                </a:tc>
                <a:extLst>
                  <a:ext uri="{0D108BD9-81ED-4DB2-BD59-A6C34878D82A}">
                    <a16:rowId xmlns:a16="http://schemas.microsoft.com/office/drawing/2014/main" val="2512377830"/>
                  </a:ext>
                </a:extLst>
              </a:tr>
              <a:tr h="0">
                <a:tc>
                  <a:txBody>
                    <a:bodyPr/>
                    <a:lstStyle/>
                    <a:p>
                      <a:pPr>
                        <a:buNone/>
                      </a:pPr>
                      <a:r>
                        <a:rPr lang="en-IN"/>
                        <a:t>Assessment</a:t>
                      </a:r>
                    </a:p>
                  </a:txBody>
                  <a:tcPr anchor="ctr"/>
                </a:tc>
                <a:tc>
                  <a:txBody>
                    <a:bodyPr/>
                    <a:lstStyle/>
                    <a:p>
                      <a:pPr>
                        <a:buNone/>
                      </a:pPr>
                      <a:r>
                        <a:rPr lang="en-IN"/>
                        <a:t>2 Weeks</a:t>
                      </a:r>
                    </a:p>
                  </a:txBody>
                  <a:tcPr anchor="ctr"/>
                </a:tc>
                <a:extLst>
                  <a:ext uri="{0D108BD9-81ED-4DB2-BD59-A6C34878D82A}">
                    <a16:rowId xmlns:a16="http://schemas.microsoft.com/office/drawing/2014/main" val="3688871724"/>
                  </a:ext>
                </a:extLst>
              </a:tr>
              <a:tr h="0">
                <a:tc>
                  <a:txBody>
                    <a:bodyPr/>
                    <a:lstStyle/>
                    <a:p>
                      <a:pPr>
                        <a:buNone/>
                      </a:pPr>
                      <a:r>
                        <a:rPr lang="en-IN"/>
                        <a:t>Landing Zone Preparation</a:t>
                      </a:r>
                    </a:p>
                  </a:txBody>
                  <a:tcPr anchor="ctr"/>
                </a:tc>
                <a:tc>
                  <a:txBody>
                    <a:bodyPr/>
                    <a:lstStyle/>
                    <a:p>
                      <a:pPr>
                        <a:buNone/>
                      </a:pPr>
                      <a:r>
                        <a:rPr lang="en-IN"/>
                        <a:t>3 Weeks</a:t>
                      </a:r>
                    </a:p>
                  </a:txBody>
                  <a:tcPr anchor="ctr"/>
                </a:tc>
                <a:extLst>
                  <a:ext uri="{0D108BD9-81ED-4DB2-BD59-A6C34878D82A}">
                    <a16:rowId xmlns:a16="http://schemas.microsoft.com/office/drawing/2014/main" val="1577395227"/>
                  </a:ext>
                </a:extLst>
              </a:tr>
              <a:tr h="0">
                <a:tc>
                  <a:txBody>
                    <a:bodyPr/>
                    <a:lstStyle/>
                    <a:p>
                      <a:pPr>
                        <a:buNone/>
                      </a:pPr>
                      <a:r>
                        <a:rPr lang="en-IN"/>
                        <a:t>Wave 1 Migration</a:t>
                      </a:r>
                    </a:p>
                  </a:txBody>
                  <a:tcPr anchor="ctr"/>
                </a:tc>
                <a:tc>
                  <a:txBody>
                    <a:bodyPr/>
                    <a:lstStyle/>
                    <a:p>
                      <a:pPr>
                        <a:buNone/>
                      </a:pPr>
                      <a:r>
                        <a:rPr lang="en-IN"/>
                        <a:t>1 Week</a:t>
                      </a:r>
                    </a:p>
                  </a:txBody>
                  <a:tcPr anchor="ctr"/>
                </a:tc>
                <a:extLst>
                  <a:ext uri="{0D108BD9-81ED-4DB2-BD59-A6C34878D82A}">
                    <a16:rowId xmlns:a16="http://schemas.microsoft.com/office/drawing/2014/main" val="608434542"/>
                  </a:ext>
                </a:extLst>
              </a:tr>
              <a:tr h="0">
                <a:tc>
                  <a:txBody>
                    <a:bodyPr/>
                    <a:lstStyle/>
                    <a:p>
                      <a:pPr>
                        <a:buNone/>
                      </a:pPr>
                      <a:r>
                        <a:rPr lang="en-IN"/>
                        <a:t>Wave 2 Migration</a:t>
                      </a:r>
                    </a:p>
                  </a:txBody>
                  <a:tcPr anchor="ctr"/>
                </a:tc>
                <a:tc>
                  <a:txBody>
                    <a:bodyPr/>
                    <a:lstStyle/>
                    <a:p>
                      <a:pPr>
                        <a:buNone/>
                      </a:pPr>
                      <a:r>
                        <a:rPr lang="en-IN"/>
                        <a:t>2 Weeks</a:t>
                      </a:r>
                    </a:p>
                  </a:txBody>
                  <a:tcPr anchor="ctr"/>
                </a:tc>
                <a:extLst>
                  <a:ext uri="{0D108BD9-81ED-4DB2-BD59-A6C34878D82A}">
                    <a16:rowId xmlns:a16="http://schemas.microsoft.com/office/drawing/2014/main" val="3547480782"/>
                  </a:ext>
                </a:extLst>
              </a:tr>
              <a:tr h="0">
                <a:tc>
                  <a:txBody>
                    <a:bodyPr/>
                    <a:lstStyle/>
                    <a:p>
                      <a:pPr>
                        <a:buNone/>
                      </a:pPr>
                      <a:r>
                        <a:rPr lang="en-IN"/>
                        <a:t>Wave 3 Migration</a:t>
                      </a:r>
                    </a:p>
                  </a:txBody>
                  <a:tcPr anchor="ctr"/>
                </a:tc>
                <a:tc>
                  <a:txBody>
                    <a:bodyPr/>
                    <a:lstStyle/>
                    <a:p>
                      <a:pPr>
                        <a:buNone/>
                      </a:pPr>
                      <a:r>
                        <a:rPr lang="en-IN" dirty="0"/>
                        <a:t>3 Weeks</a:t>
                      </a:r>
                    </a:p>
                  </a:txBody>
                  <a:tcPr anchor="ctr"/>
                </a:tc>
                <a:extLst>
                  <a:ext uri="{0D108BD9-81ED-4DB2-BD59-A6C34878D82A}">
                    <a16:rowId xmlns:a16="http://schemas.microsoft.com/office/drawing/2014/main" val="933409396"/>
                  </a:ext>
                </a:extLst>
              </a:tr>
            </a:tbl>
          </a:graphicData>
        </a:graphic>
      </p:graphicFrame>
    </p:spTree>
    <p:extLst>
      <p:ext uri="{BB962C8B-B14F-4D97-AF65-F5344CB8AC3E}">
        <p14:creationId xmlns:p14="http://schemas.microsoft.com/office/powerpoint/2010/main" val="3707353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687FF4-A123-251E-402A-A616C5114046}"/>
              </a:ext>
            </a:extLst>
          </p:cNvPr>
          <p:cNvSpPr txBox="1"/>
          <p:nvPr/>
        </p:nvSpPr>
        <p:spPr>
          <a:xfrm>
            <a:off x="266308" y="173552"/>
            <a:ext cx="6094428" cy="369332"/>
          </a:xfrm>
          <a:prstGeom prst="rect">
            <a:avLst/>
          </a:prstGeom>
          <a:noFill/>
        </p:spPr>
        <p:txBody>
          <a:bodyPr wrap="square">
            <a:spAutoFit/>
          </a:bodyPr>
          <a:lstStyle/>
          <a:p>
            <a:pPr>
              <a:buNone/>
            </a:pPr>
            <a:r>
              <a:rPr lang="en-US" b="1" dirty="0"/>
              <a:t>Step 8 – Select Migration Strategy (The 7 Rs)</a:t>
            </a:r>
          </a:p>
        </p:txBody>
      </p:sp>
      <p:graphicFrame>
        <p:nvGraphicFramePr>
          <p:cNvPr id="4" name="Table 3">
            <a:extLst>
              <a:ext uri="{FF2B5EF4-FFF2-40B4-BE49-F238E27FC236}">
                <a16:creationId xmlns:a16="http://schemas.microsoft.com/office/drawing/2014/main" id="{1349C9E1-6237-C909-CD50-CCFD7202F65C}"/>
              </a:ext>
            </a:extLst>
          </p:cNvPr>
          <p:cNvGraphicFramePr>
            <a:graphicFrameLocks noGrp="1"/>
          </p:cNvGraphicFramePr>
          <p:nvPr>
            <p:extLst>
              <p:ext uri="{D42A27DB-BD31-4B8C-83A1-F6EECF244321}">
                <p14:modId xmlns:p14="http://schemas.microsoft.com/office/powerpoint/2010/main" val="1887750446"/>
              </p:ext>
            </p:extLst>
          </p:nvPr>
        </p:nvGraphicFramePr>
        <p:xfrm>
          <a:off x="387839" y="807529"/>
          <a:ext cx="11414520" cy="5704056"/>
        </p:xfrm>
        <a:graphic>
          <a:graphicData uri="http://schemas.openxmlformats.org/drawingml/2006/table">
            <a:tbl>
              <a:tblPr>
                <a:tableStyleId>{1E171933-4619-4E11-9A3F-F7608DF75F80}</a:tableStyleId>
              </a:tblPr>
              <a:tblGrid>
                <a:gridCol w="3804840">
                  <a:extLst>
                    <a:ext uri="{9D8B030D-6E8A-4147-A177-3AD203B41FA5}">
                      <a16:colId xmlns:a16="http://schemas.microsoft.com/office/drawing/2014/main" val="3483533610"/>
                    </a:ext>
                  </a:extLst>
                </a:gridCol>
                <a:gridCol w="3804840">
                  <a:extLst>
                    <a:ext uri="{9D8B030D-6E8A-4147-A177-3AD203B41FA5}">
                      <a16:colId xmlns:a16="http://schemas.microsoft.com/office/drawing/2014/main" val="2178042937"/>
                    </a:ext>
                  </a:extLst>
                </a:gridCol>
                <a:gridCol w="3804840">
                  <a:extLst>
                    <a:ext uri="{9D8B030D-6E8A-4147-A177-3AD203B41FA5}">
                      <a16:colId xmlns:a16="http://schemas.microsoft.com/office/drawing/2014/main" val="3359039888"/>
                    </a:ext>
                  </a:extLst>
                </a:gridCol>
              </a:tblGrid>
              <a:tr h="194124">
                <a:tc>
                  <a:txBody>
                    <a:bodyPr/>
                    <a:lstStyle/>
                    <a:p>
                      <a:pPr algn="ctr" fontAlgn="t">
                        <a:lnSpc>
                          <a:spcPct val="100000"/>
                        </a:lnSpc>
                        <a:buNone/>
                      </a:pPr>
                      <a:r>
                        <a:rPr lang="en-IN" sz="1200" b="1" dirty="0">
                          <a:effectLst/>
                        </a:rPr>
                        <a:t>Cloud migration strategy</a:t>
                      </a:r>
                    </a:p>
                  </a:txBody>
                  <a:tcPr marL="37191" marR="37191" marT="18595" marB="18595" anchor="ctr"/>
                </a:tc>
                <a:tc>
                  <a:txBody>
                    <a:bodyPr/>
                    <a:lstStyle/>
                    <a:p>
                      <a:pPr algn="l" fontAlgn="t">
                        <a:lnSpc>
                          <a:spcPct val="100000"/>
                        </a:lnSpc>
                        <a:buNone/>
                      </a:pPr>
                      <a:r>
                        <a:rPr lang="en-IN" sz="1200" b="1" dirty="0">
                          <a:effectLst/>
                        </a:rPr>
                        <a:t>Business driver</a:t>
                      </a:r>
                    </a:p>
                  </a:txBody>
                  <a:tcPr marL="37191" marR="37191" marT="18595" marB="18595" anchor="ctr"/>
                </a:tc>
                <a:tc>
                  <a:txBody>
                    <a:bodyPr/>
                    <a:lstStyle/>
                    <a:p>
                      <a:pPr algn="l" fontAlgn="t">
                        <a:lnSpc>
                          <a:spcPct val="100000"/>
                        </a:lnSpc>
                        <a:buNone/>
                      </a:pPr>
                      <a:r>
                        <a:rPr lang="en-US" sz="1200" b="1" dirty="0">
                          <a:effectLst/>
                        </a:rPr>
                        <a:t>Key indicators for this strategy</a:t>
                      </a:r>
                    </a:p>
                  </a:txBody>
                  <a:tcPr marL="37191" marR="37191" marT="18595" marB="18595" anchor="ctr"/>
                </a:tc>
                <a:extLst>
                  <a:ext uri="{0D108BD9-81ED-4DB2-BD59-A6C34878D82A}">
                    <a16:rowId xmlns:a16="http://schemas.microsoft.com/office/drawing/2014/main" val="1196326983"/>
                  </a:ext>
                </a:extLst>
              </a:tr>
              <a:tr h="630901">
                <a:tc>
                  <a:txBody>
                    <a:bodyPr/>
                    <a:lstStyle/>
                    <a:p>
                      <a:pPr algn="ctr" fontAlgn="t">
                        <a:lnSpc>
                          <a:spcPct val="100000"/>
                        </a:lnSpc>
                        <a:buNone/>
                      </a:pPr>
                      <a:r>
                        <a:rPr lang="en-IN" sz="1800" b="1" u="none" strike="noStrike" dirty="0">
                          <a:solidFill>
                            <a:srgbClr val="0065B3"/>
                          </a:solidFill>
                          <a:effectLst/>
                          <a:hlinkClick r:id="rId2"/>
                        </a:rPr>
                        <a:t>Retire</a:t>
                      </a:r>
                      <a:endParaRPr lang="en-IN" sz="1800" b="1" dirty="0">
                        <a:effectLst/>
                      </a:endParaRPr>
                    </a:p>
                  </a:txBody>
                  <a:tcPr marL="37191" marR="37191" marT="18595" marB="18595" anchor="ctr"/>
                </a:tc>
                <a:tc>
                  <a:txBody>
                    <a:bodyPr/>
                    <a:lstStyle/>
                    <a:p>
                      <a:pPr algn="l" fontAlgn="t">
                        <a:lnSpc>
                          <a:spcPct val="100000"/>
                        </a:lnSpc>
                        <a:buNone/>
                      </a:pPr>
                      <a:r>
                        <a:rPr lang="en-US" sz="1200" dirty="0">
                          <a:effectLst/>
                        </a:rPr>
                        <a:t>Need to decommission redundant or low-value workloads</a:t>
                      </a:r>
                    </a:p>
                  </a:txBody>
                  <a:tcPr marL="37191" marR="37191" marT="18595" marB="18595" anchor="ctr"/>
                </a:tc>
                <a:tc>
                  <a:txBody>
                    <a:bodyPr/>
                    <a:lstStyle/>
                    <a:p>
                      <a:pPr algn="l" fontAlgn="t">
                        <a:lnSpc>
                          <a:spcPct val="100000"/>
                        </a:lnSpc>
                        <a:buNone/>
                      </a:pPr>
                      <a:r>
                        <a:rPr lang="en-US" sz="1200" dirty="0">
                          <a:effectLst/>
                        </a:rPr>
                        <a:t>• Workload has limited current or future business value • Migration or modernization cost outweighs business benefits</a:t>
                      </a:r>
                    </a:p>
                  </a:txBody>
                  <a:tcPr marL="37191" marR="37191" marT="18595" marB="18595" anchor="ctr"/>
                </a:tc>
                <a:extLst>
                  <a:ext uri="{0D108BD9-81ED-4DB2-BD59-A6C34878D82A}">
                    <a16:rowId xmlns:a16="http://schemas.microsoft.com/office/drawing/2014/main" val="1189228844"/>
                  </a:ext>
                </a:extLst>
              </a:tr>
              <a:tr h="1067679">
                <a:tc>
                  <a:txBody>
                    <a:bodyPr/>
                    <a:lstStyle/>
                    <a:p>
                      <a:pPr algn="ctr" fontAlgn="t">
                        <a:lnSpc>
                          <a:spcPct val="100000"/>
                        </a:lnSpc>
                        <a:buNone/>
                      </a:pPr>
                      <a:r>
                        <a:rPr lang="en-IN" sz="1800" b="1" u="none" strike="noStrike" dirty="0">
                          <a:solidFill>
                            <a:srgbClr val="0065B3"/>
                          </a:solidFill>
                          <a:effectLst/>
                          <a:hlinkClick r:id="rId3"/>
                        </a:rPr>
                        <a:t>Rehost</a:t>
                      </a:r>
                      <a:endParaRPr lang="en-IN" sz="1800" b="1" dirty="0">
                        <a:effectLst/>
                      </a:endParaRPr>
                    </a:p>
                  </a:txBody>
                  <a:tcPr marL="37191" marR="37191" marT="18595" marB="18595" anchor="ctr"/>
                </a:tc>
                <a:tc>
                  <a:txBody>
                    <a:bodyPr/>
                    <a:lstStyle/>
                    <a:p>
                      <a:pPr algn="l" fontAlgn="t">
                        <a:lnSpc>
                          <a:spcPct val="100000"/>
                        </a:lnSpc>
                        <a:buNone/>
                      </a:pPr>
                      <a:r>
                        <a:rPr lang="en-US" sz="1200">
                          <a:effectLst/>
                        </a:rPr>
                        <a:t>Need minimal business disruption and no modernization in near future</a:t>
                      </a:r>
                    </a:p>
                  </a:txBody>
                  <a:tcPr marL="37191" marR="37191" marT="18595" marB="18595" anchor="ctr"/>
                </a:tc>
                <a:tc>
                  <a:txBody>
                    <a:bodyPr/>
                    <a:lstStyle/>
                    <a:p>
                      <a:pPr algn="l" fontAlgn="t">
                        <a:lnSpc>
                          <a:spcPct val="100000"/>
                        </a:lnSpc>
                        <a:buNone/>
                      </a:pPr>
                      <a:r>
                        <a:rPr lang="en-US" sz="1200">
                          <a:effectLst/>
                        </a:rPr>
                        <a:t>• Workload is stable • Workload is compatible with Azure • Low-risk migration • Short-term cloud adoption goals • No immediate need for modernization • Reduce capital expense • Free up datacenter space • Inexperience with Azure</a:t>
                      </a:r>
                    </a:p>
                  </a:txBody>
                  <a:tcPr marL="37191" marR="37191" marT="18595" marB="18595" anchor="ctr"/>
                </a:tc>
                <a:extLst>
                  <a:ext uri="{0D108BD9-81ED-4DB2-BD59-A6C34878D82A}">
                    <a16:rowId xmlns:a16="http://schemas.microsoft.com/office/drawing/2014/main" val="3722085760"/>
                  </a:ext>
                </a:extLst>
              </a:tr>
              <a:tr h="630901">
                <a:tc>
                  <a:txBody>
                    <a:bodyPr/>
                    <a:lstStyle/>
                    <a:p>
                      <a:pPr algn="ctr" fontAlgn="t">
                        <a:lnSpc>
                          <a:spcPct val="100000"/>
                        </a:lnSpc>
                        <a:buNone/>
                      </a:pPr>
                      <a:r>
                        <a:rPr lang="en-IN" sz="1800" b="1" u="none" strike="noStrike" dirty="0" err="1">
                          <a:solidFill>
                            <a:srgbClr val="0065B3"/>
                          </a:solidFill>
                          <a:effectLst/>
                          <a:hlinkClick r:id="rId4"/>
                        </a:rPr>
                        <a:t>Replatform</a:t>
                      </a:r>
                      <a:endParaRPr lang="en-IN" sz="1800" b="1" dirty="0">
                        <a:effectLst/>
                      </a:endParaRPr>
                    </a:p>
                  </a:txBody>
                  <a:tcPr marL="37191" marR="37191" marT="18595" marB="18595" anchor="ctr"/>
                </a:tc>
                <a:tc>
                  <a:txBody>
                    <a:bodyPr/>
                    <a:lstStyle/>
                    <a:p>
                      <a:pPr algn="l" fontAlgn="t">
                        <a:lnSpc>
                          <a:spcPct val="100000"/>
                        </a:lnSpc>
                        <a:buNone/>
                      </a:pPr>
                      <a:r>
                        <a:rPr lang="en-US" sz="1200" dirty="0">
                          <a:effectLst/>
                        </a:rPr>
                        <a:t>Needs PaaS solutions and minimal code changes to offload maintenance and facilitate reliability</a:t>
                      </a:r>
                    </a:p>
                  </a:txBody>
                  <a:tcPr marL="37191" marR="37191" marT="18595" marB="18595" anchor="ctr"/>
                </a:tc>
                <a:tc>
                  <a:txBody>
                    <a:bodyPr/>
                    <a:lstStyle/>
                    <a:p>
                      <a:pPr algn="l" fontAlgn="t">
                        <a:lnSpc>
                          <a:spcPct val="100000"/>
                        </a:lnSpc>
                        <a:buNone/>
                      </a:pPr>
                      <a:r>
                        <a:rPr lang="en-US" sz="1200">
                          <a:effectLst/>
                        </a:rPr>
                        <a:t>• Simplify reliability and disaster recovery • Reduce OS and licensing overhead • Improve time-to-cloud with moderate investment • Containerize app</a:t>
                      </a:r>
                    </a:p>
                  </a:txBody>
                  <a:tcPr marL="37191" marR="37191" marT="18595" marB="18595" anchor="ctr"/>
                </a:tc>
                <a:extLst>
                  <a:ext uri="{0D108BD9-81ED-4DB2-BD59-A6C34878D82A}">
                    <a16:rowId xmlns:a16="http://schemas.microsoft.com/office/drawing/2014/main" val="308762199"/>
                  </a:ext>
                </a:extLst>
              </a:tr>
              <a:tr h="776494">
                <a:tc>
                  <a:txBody>
                    <a:bodyPr/>
                    <a:lstStyle/>
                    <a:p>
                      <a:pPr algn="ctr" fontAlgn="t">
                        <a:lnSpc>
                          <a:spcPct val="100000"/>
                        </a:lnSpc>
                        <a:buNone/>
                      </a:pPr>
                      <a:r>
                        <a:rPr lang="en-IN" sz="1800" b="1" u="none" strike="noStrike" dirty="0">
                          <a:solidFill>
                            <a:srgbClr val="0065B3"/>
                          </a:solidFill>
                          <a:effectLst/>
                          <a:hlinkClick r:id="rId5"/>
                        </a:rPr>
                        <a:t>Refactor</a:t>
                      </a:r>
                      <a:endParaRPr lang="en-IN" sz="1800" b="1" dirty="0">
                        <a:effectLst/>
                      </a:endParaRPr>
                    </a:p>
                  </a:txBody>
                  <a:tcPr marL="37191" marR="37191" marT="18595" marB="18595" anchor="ctr"/>
                </a:tc>
                <a:tc>
                  <a:txBody>
                    <a:bodyPr/>
                    <a:lstStyle/>
                    <a:p>
                      <a:pPr algn="l" fontAlgn="t">
                        <a:lnSpc>
                          <a:spcPct val="100000"/>
                        </a:lnSpc>
                        <a:buNone/>
                      </a:pPr>
                      <a:r>
                        <a:rPr lang="en-US" sz="1200" dirty="0">
                          <a:effectLst/>
                        </a:rPr>
                        <a:t>Need code changes to reduce technical debt or optimize code for cloud</a:t>
                      </a:r>
                    </a:p>
                  </a:txBody>
                  <a:tcPr marL="37191" marR="37191" marT="18595" marB="18595" anchor="ctr"/>
                </a:tc>
                <a:tc>
                  <a:txBody>
                    <a:bodyPr/>
                    <a:lstStyle/>
                    <a:p>
                      <a:pPr algn="l" fontAlgn="t">
                        <a:lnSpc>
                          <a:spcPct val="100000"/>
                        </a:lnSpc>
                        <a:buNone/>
                      </a:pPr>
                      <a:r>
                        <a:rPr lang="en-US" sz="1200">
                          <a:effectLst/>
                        </a:rPr>
                        <a:t>• Decrease cost of maintenance • Reduce technical debt • Use Azure SDKs • Improve code performance • Optimize code costs • Apply cloud design patterns • Instrument code for monitoring</a:t>
                      </a:r>
                    </a:p>
                  </a:txBody>
                  <a:tcPr marL="37191" marR="37191" marT="18595" marB="18595" anchor="ctr"/>
                </a:tc>
                <a:extLst>
                  <a:ext uri="{0D108BD9-81ED-4DB2-BD59-A6C34878D82A}">
                    <a16:rowId xmlns:a16="http://schemas.microsoft.com/office/drawing/2014/main" val="36858464"/>
                  </a:ext>
                </a:extLst>
              </a:tr>
              <a:tr h="776494">
                <a:tc>
                  <a:txBody>
                    <a:bodyPr/>
                    <a:lstStyle/>
                    <a:p>
                      <a:pPr algn="ctr" fontAlgn="t">
                        <a:lnSpc>
                          <a:spcPct val="100000"/>
                        </a:lnSpc>
                        <a:buNone/>
                      </a:pPr>
                      <a:r>
                        <a:rPr lang="en-IN" sz="1800" b="1" u="none" strike="noStrike" dirty="0">
                          <a:solidFill>
                            <a:srgbClr val="0065B3"/>
                          </a:solidFill>
                          <a:effectLst/>
                          <a:hlinkClick r:id="rId6"/>
                        </a:rPr>
                        <a:t>Rearchitect</a:t>
                      </a:r>
                      <a:endParaRPr lang="en-IN" sz="1800" b="1" dirty="0">
                        <a:effectLst/>
                      </a:endParaRPr>
                    </a:p>
                  </a:txBody>
                  <a:tcPr marL="37191" marR="37191" marT="18595" marB="18595" anchor="ctr"/>
                </a:tc>
                <a:tc>
                  <a:txBody>
                    <a:bodyPr/>
                    <a:lstStyle/>
                    <a:p>
                      <a:pPr algn="l" fontAlgn="t">
                        <a:lnSpc>
                          <a:spcPct val="100000"/>
                        </a:lnSpc>
                        <a:buNone/>
                      </a:pPr>
                      <a:r>
                        <a:rPr lang="en-US" sz="1200" dirty="0">
                          <a:effectLst/>
                        </a:rPr>
                        <a:t>Need architecture changes to unlock cloud-native capabilities</a:t>
                      </a:r>
                    </a:p>
                  </a:txBody>
                  <a:tcPr marL="37191" marR="37191" marT="18595" marB="18595" anchor="ctr"/>
                </a:tc>
                <a:tc>
                  <a:txBody>
                    <a:bodyPr/>
                    <a:lstStyle/>
                    <a:p>
                      <a:pPr algn="l" fontAlgn="t">
                        <a:lnSpc>
                          <a:spcPct val="100000"/>
                        </a:lnSpc>
                        <a:buNone/>
                      </a:pPr>
                      <a:r>
                        <a:rPr lang="en-US" sz="1200">
                          <a:effectLst/>
                        </a:rPr>
                        <a:t>• Application requires modularization or service decomposition • Scaling needs vary by component • Architecture must support future innovation • Mix technology stacks</a:t>
                      </a:r>
                    </a:p>
                  </a:txBody>
                  <a:tcPr marL="37191" marR="37191" marT="18595" marB="18595" anchor="ctr"/>
                </a:tc>
                <a:extLst>
                  <a:ext uri="{0D108BD9-81ED-4DB2-BD59-A6C34878D82A}">
                    <a16:rowId xmlns:a16="http://schemas.microsoft.com/office/drawing/2014/main" val="134471473"/>
                  </a:ext>
                </a:extLst>
              </a:tr>
              <a:tr h="485308">
                <a:tc>
                  <a:txBody>
                    <a:bodyPr/>
                    <a:lstStyle/>
                    <a:p>
                      <a:pPr algn="ctr" fontAlgn="t">
                        <a:lnSpc>
                          <a:spcPct val="100000"/>
                        </a:lnSpc>
                        <a:buNone/>
                      </a:pPr>
                      <a:r>
                        <a:rPr lang="en-IN" sz="1800" b="1" u="none" strike="noStrike" dirty="0">
                          <a:solidFill>
                            <a:srgbClr val="0065B3"/>
                          </a:solidFill>
                          <a:effectLst/>
                          <a:hlinkClick r:id="rId7"/>
                        </a:rPr>
                        <a:t>Replace</a:t>
                      </a:r>
                      <a:endParaRPr lang="en-IN" sz="1800" b="1" dirty="0">
                        <a:effectLst/>
                      </a:endParaRPr>
                    </a:p>
                  </a:txBody>
                  <a:tcPr marL="37191" marR="37191" marT="18595" marB="18595" anchor="ctr"/>
                </a:tc>
                <a:tc>
                  <a:txBody>
                    <a:bodyPr/>
                    <a:lstStyle/>
                    <a:p>
                      <a:pPr algn="l" fontAlgn="t">
                        <a:lnSpc>
                          <a:spcPct val="100000"/>
                        </a:lnSpc>
                        <a:buNone/>
                      </a:pPr>
                      <a:r>
                        <a:rPr lang="en-US" sz="1200" dirty="0">
                          <a:effectLst/>
                        </a:rPr>
                        <a:t>Need SaaS/AI solution to simplify operations</a:t>
                      </a:r>
                    </a:p>
                  </a:txBody>
                  <a:tcPr marL="37191" marR="37191" marT="18595" marB="18595" anchor="ctr"/>
                </a:tc>
                <a:tc>
                  <a:txBody>
                    <a:bodyPr/>
                    <a:lstStyle/>
                    <a:p>
                      <a:pPr algn="l" fontAlgn="t">
                        <a:lnSpc>
                          <a:spcPct val="100000"/>
                        </a:lnSpc>
                        <a:buNone/>
                      </a:pPr>
                      <a:r>
                        <a:rPr lang="en-US" sz="1200">
                          <a:effectLst/>
                        </a:rPr>
                        <a:t>• Simplify operations • Internal development resources are better used elsewhere • Little need for customization</a:t>
                      </a:r>
                    </a:p>
                  </a:txBody>
                  <a:tcPr marL="37191" marR="37191" marT="18595" marB="18595" anchor="ctr"/>
                </a:tc>
                <a:extLst>
                  <a:ext uri="{0D108BD9-81ED-4DB2-BD59-A6C34878D82A}">
                    <a16:rowId xmlns:a16="http://schemas.microsoft.com/office/drawing/2014/main" val="2259024486"/>
                  </a:ext>
                </a:extLst>
              </a:tr>
              <a:tr h="630901">
                <a:tc>
                  <a:txBody>
                    <a:bodyPr/>
                    <a:lstStyle/>
                    <a:p>
                      <a:pPr algn="ctr" fontAlgn="t">
                        <a:lnSpc>
                          <a:spcPct val="100000"/>
                        </a:lnSpc>
                        <a:buNone/>
                      </a:pPr>
                      <a:r>
                        <a:rPr lang="en-IN" sz="1800" b="1" u="none" strike="noStrike" dirty="0">
                          <a:solidFill>
                            <a:srgbClr val="0065B3"/>
                          </a:solidFill>
                          <a:effectLst/>
                          <a:hlinkClick r:id="rId8"/>
                        </a:rPr>
                        <a:t>Rebuild</a:t>
                      </a:r>
                      <a:endParaRPr lang="en-IN" sz="1800" b="1" dirty="0">
                        <a:effectLst/>
                      </a:endParaRPr>
                    </a:p>
                  </a:txBody>
                  <a:tcPr marL="37191" marR="37191" marT="18595" marB="18595" anchor="ctr"/>
                </a:tc>
                <a:tc>
                  <a:txBody>
                    <a:bodyPr/>
                    <a:lstStyle/>
                    <a:p>
                      <a:pPr algn="l" fontAlgn="t">
                        <a:lnSpc>
                          <a:spcPct val="100000"/>
                        </a:lnSpc>
                        <a:buNone/>
                      </a:pPr>
                      <a:r>
                        <a:rPr lang="en-US" sz="1200" dirty="0">
                          <a:effectLst/>
                        </a:rPr>
                        <a:t>Need new cloud-native solution to meet requirements</a:t>
                      </a:r>
                    </a:p>
                  </a:txBody>
                  <a:tcPr marL="37191" marR="37191" marT="18595" marB="18595" anchor="ctr"/>
                </a:tc>
                <a:tc>
                  <a:txBody>
                    <a:bodyPr/>
                    <a:lstStyle/>
                    <a:p>
                      <a:pPr algn="l" fontAlgn="t">
                        <a:lnSpc>
                          <a:spcPct val="100000"/>
                        </a:lnSpc>
                        <a:buNone/>
                      </a:pPr>
                      <a:r>
                        <a:rPr lang="en-US" sz="1200" dirty="0">
                          <a:effectLst/>
                        </a:rPr>
                        <a:t>• Legacy system is too outdated or inflexible • Build applications faster • Reduce operational cost • Need modern frameworks and tools</a:t>
                      </a:r>
                    </a:p>
                  </a:txBody>
                  <a:tcPr marL="37191" marR="37191" marT="18595" marB="18595" anchor="ctr"/>
                </a:tc>
                <a:extLst>
                  <a:ext uri="{0D108BD9-81ED-4DB2-BD59-A6C34878D82A}">
                    <a16:rowId xmlns:a16="http://schemas.microsoft.com/office/drawing/2014/main" val="2255244031"/>
                  </a:ext>
                </a:extLst>
              </a:tr>
              <a:tr h="485308">
                <a:tc>
                  <a:txBody>
                    <a:bodyPr/>
                    <a:lstStyle/>
                    <a:p>
                      <a:pPr algn="ctr" fontAlgn="t">
                        <a:lnSpc>
                          <a:spcPct val="100000"/>
                        </a:lnSpc>
                        <a:buNone/>
                      </a:pPr>
                      <a:r>
                        <a:rPr lang="en-IN" sz="1800" b="1" u="none" strike="noStrike" dirty="0">
                          <a:solidFill>
                            <a:srgbClr val="0065B3"/>
                          </a:solidFill>
                          <a:effectLst/>
                          <a:hlinkClick r:id="rId9"/>
                        </a:rPr>
                        <a:t>Retain</a:t>
                      </a:r>
                      <a:endParaRPr lang="en-IN" sz="1800" b="1" dirty="0">
                        <a:effectLst/>
                      </a:endParaRPr>
                    </a:p>
                  </a:txBody>
                  <a:tcPr marL="37191" marR="37191" marT="18595" marB="18595" anchor="ctr"/>
                </a:tc>
                <a:tc>
                  <a:txBody>
                    <a:bodyPr/>
                    <a:lstStyle/>
                    <a:p>
                      <a:pPr algn="l" fontAlgn="t">
                        <a:lnSpc>
                          <a:spcPct val="100000"/>
                        </a:lnSpc>
                        <a:buNone/>
                      </a:pPr>
                      <a:r>
                        <a:rPr lang="en-US" sz="1200">
                          <a:effectLst/>
                        </a:rPr>
                        <a:t>Need stability and no change</a:t>
                      </a:r>
                    </a:p>
                  </a:txBody>
                  <a:tcPr marL="37191" marR="37191" marT="18595" marB="18595" anchor="ctr"/>
                </a:tc>
                <a:tc>
                  <a:txBody>
                    <a:bodyPr/>
                    <a:lstStyle/>
                    <a:p>
                      <a:pPr algn="l" fontAlgn="t">
                        <a:lnSpc>
                          <a:spcPct val="100000"/>
                        </a:lnSpc>
                        <a:buNone/>
                      </a:pPr>
                      <a:r>
                        <a:rPr lang="en-US" sz="1200" dirty="0">
                          <a:effectLst/>
                        </a:rPr>
                        <a:t>• Workload is stable, compliant, and meets business needs • No near-term driver to move • Low ROI from migration</a:t>
                      </a:r>
                    </a:p>
                  </a:txBody>
                  <a:tcPr marL="37191" marR="37191" marT="18595" marB="18595" anchor="ctr"/>
                </a:tc>
                <a:extLst>
                  <a:ext uri="{0D108BD9-81ED-4DB2-BD59-A6C34878D82A}">
                    <a16:rowId xmlns:a16="http://schemas.microsoft.com/office/drawing/2014/main" val="405606545"/>
                  </a:ext>
                </a:extLst>
              </a:tr>
            </a:tbl>
          </a:graphicData>
        </a:graphic>
      </p:graphicFrame>
    </p:spTree>
    <p:extLst>
      <p:ext uri="{BB962C8B-B14F-4D97-AF65-F5344CB8AC3E}">
        <p14:creationId xmlns:p14="http://schemas.microsoft.com/office/powerpoint/2010/main" val="391927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1809</Words>
  <Application>Microsoft Office PowerPoint</Application>
  <PresentationFormat>Widescreen</PresentationFormat>
  <Paragraphs>211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Segoe UI</vt:lpstr>
      <vt:lpstr>Wingdings</vt:lpstr>
      <vt:lpstr>Office Theme</vt:lpstr>
      <vt:lpstr>What is the Microsoft Cloud Adoption Framework? </vt:lpstr>
      <vt:lpstr>What is the Microsoft Cloud Adoption Framework? </vt:lpstr>
      <vt:lpstr>How does the Cloud Adoption Framework work? </vt:lpstr>
      <vt:lpstr>PowerPoint Presentation</vt:lpstr>
      <vt:lpstr>PowerPoint Presentation</vt:lpstr>
      <vt:lpstr>PowerPoint Presentation</vt:lpstr>
      <vt:lpstr>PowerPoint Presentation</vt:lpstr>
      <vt:lpstr>PowerPoint Presentation</vt:lpstr>
      <vt:lpstr>Map your cloud adoption journey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Meenu Grover</dc:creator>
  <cp:lastModifiedBy>Meenu Grover</cp:lastModifiedBy>
  <cp:revision>11</cp:revision>
  <dcterms:created xsi:type="dcterms:W3CDTF">2026-08-02T04:38:43Z</dcterms:created>
  <dcterms:modified xsi:type="dcterms:W3CDTF">2026-08-02T08:36:10Z</dcterms:modified>
</cp:coreProperties>
</file>